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otham Bold" charset="1" panose="00000000000000000000"/>
      <p:regular r:id="rId19"/>
    </p:embeddedFont>
    <p:embeddedFont>
      <p:font typeface="Gotham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75420" y="10279857"/>
            <a:ext cx="200025" cy="7145"/>
          </a:xfrm>
          <a:custGeom>
            <a:avLst/>
            <a:gdLst/>
            <a:ahLst/>
            <a:cxnLst/>
            <a:rect r="r" b="b" t="t" l="l"/>
            <a:pathLst>
              <a:path h="7145" w="200025">
                <a:moveTo>
                  <a:pt x="0" y="0"/>
                </a:moveTo>
                <a:lnTo>
                  <a:pt x="200024" y="0"/>
                </a:lnTo>
                <a:lnTo>
                  <a:pt x="200024" y="7144"/>
                </a:lnTo>
                <a:lnTo>
                  <a:pt x="0" y="71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31794" y="10279857"/>
            <a:ext cx="200025" cy="7145"/>
          </a:xfrm>
          <a:custGeom>
            <a:avLst/>
            <a:gdLst/>
            <a:ahLst/>
            <a:cxnLst/>
            <a:rect r="r" b="b" t="t" l="l"/>
            <a:pathLst>
              <a:path h="7145" w="200025">
                <a:moveTo>
                  <a:pt x="0" y="0"/>
                </a:moveTo>
                <a:lnTo>
                  <a:pt x="200025" y="0"/>
                </a:lnTo>
                <a:lnTo>
                  <a:pt x="200025" y="7144"/>
                </a:lnTo>
                <a:lnTo>
                  <a:pt x="0" y="71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23015" y="417335"/>
            <a:ext cx="1779393" cy="1995806"/>
          </a:xfrm>
          <a:custGeom>
            <a:avLst/>
            <a:gdLst/>
            <a:ahLst/>
            <a:cxnLst/>
            <a:rect r="r" b="b" t="t" l="l"/>
            <a:pathLst>
              <a:path h="1995806" w="1779393">
                <a:moveTo>
                  <a:pt x="0" y="0"/>
                </a:moveTo>
                <a:lnTo>
                  <a:pt x="1779393" y="0"/>
                </a:lnTo>
                <a:lnTo>
                  <a:pt x="1779393" y="1995807"/>
                </a:lnTo>
                <a:lnTo>
                  <a:pt x="0" y="1995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7417" y="5868723"/>
            <a:ext cx="18326627" cy="2461"/>
          </a:xfrm>
          <a:prstGeom prst="line">
            <a:avLst/>
          </a:prstGeom>
          <a:ln cap="flat" w="38100">
            <a:solidFill>
              <a:srgbClr val="00206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-38627" y="3287981"/>
            <a:ext cx="18326627" cy="3086100"/>
            <a:chOff x="0" y="0"/>
            <a:chExt cx="482676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6766" cy="812800"/>
            </a:xfrm>
            <a:custGeom>
              <a:avLst/>
              <a:gdLst/>
              <a:ahLst/>
              <a:cxnLst/>
              <a:rect r="r" b="b" t="t" l="l"/>
              <a:pathLst>
                <a:path h="812800" w="4826766">
                  <a:moveTo>
                    <a:pt x="0" y="0"/>
                  </a:moveTo>
                  <a:lnTo>
                    <a:pt x="4826766" y="0"/>
                  </a:lnTo>
                  <a:lnTo>
                    <a:pt x="482676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AF9F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26766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-38629" y="3286751"/>
            <a:ext cx="18326627" cy="2461"/>
          </a:xfrm>
          <a:prstGeom prst="line">
            <a:avLst/>
          </a:prstGeom>
          <a:ln cap="flat" w="38100">
            <a:solidFill>
              <a:srgbClr val="0020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-38632" y="5582973"/>
            <a:ext cx="18326627" cy="2461"/>
          </a:xfrm>
          <a:prstGeom prst="line">
            <a:avLst/>
          </a:prstGeom>
          <a:ln cap="flat" w="38100">
            <a:solidFill>
              <a:srgbClr val="00206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4846029" y="6640781"/>
            <a:ext cx="8219890" cy="211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1" indent="-313055" lvl="1">
              <a:lnSpc>
                <a:spcPts val="3306"/>
              </a:lnSpc>
              <a:buAutoNum type="arabicPeriod" startAt="1"/>
            </a:pPr>
            <a:r>
              <a:rPr lang="en-US" b="true" sz="2900">
                <a:solidFill>
                  <a:srgbClr val="353535"/>
                </a:solidFill>
                <a:latin typeface="Gotham Bold"/>
                <a:ea typeface="Gotham Bold"/>
                <a:cs typeface="Gotham Bold"/>
                <a:sym typeface="Gotham Bold"/>
              </a:rPr>
              <a:t>ANKAN MONDAL (23120014)</a:t>
            </a:r>
          </a:p>
          <a:p>
            <a:pPr algn="l" marL="626111" indent="-313055" lvl="1">
              <a:lnSpc>
                <a:spcPts val="3306"/>
              </a:lnSpc>
              <a:buAutoNum type="arabicPeriod" startAt="1"/>
            </a:pPr>
            <a:r>
              <a:rPr lang="en-US" b="true" sz="2900">
                <a:solidFill>
                  <a:srgbClr val="353535"/>
                </a:solidFill>
                <a:latin typeface="Gotham Bold"/>
                <a:ea typeface="Gotham Bold"/>
                <a:cs typeface="Gotham Bold"/>
                <a:sym typeface="Gotham Bold"/>
              </a:rPr>
              <a:t>DRISHTI YADAV (23120036) </a:t>
            </a:r>
          </a:p>
          <a:p>
            <a:pPr algn="l" marL="626111" indent="-313055" lvl="1">
              <a:lnSpc>
                <a:spcPts val="3306"/>
              </a:lnSpc>
              <a:buAutoNum type="arabicPeriod" startAt="1"/>
            </a:pPr>
            <a:r>
              <a:rPr lang="en-US" b="true" sz="2900">
                <a:solidFill>
                  <a:srgbClr val="353535"/>
                </a:solidFill>
                <a:latin typeface="Gotham Bold"/>
                <a:ea typeface="Gotham Bold"/>
                <a:cs typeface="Gotham Bold"/>
                <a:sym typeface="Gotham Bold"/>
              </a:rPr>
              <a:t>YUVRAJ SINGH (23120112)</a:t>
            </a:r>
          </a:p>
          <a:p>
            <a:pPr algn="l">
              <a:lnSpc>
                <a:spcPts val="3306"/>
              </a:lnSpc>
            </a:pPr>
          </a:p>
          <a:p>
            <a:pPr algn="l">
              <a:lnSpc>
                <a:spcPts val="3306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3474459"/>
            <a:ext cx="18288000" cy="2108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6"/>
              </a:lnSpc>
            </a:pPr>
            <a:r>
              <a:rPr lang="en-US" sz="4207">
                <a:solidFill>
                  <a:srgbClr val="002068"/>
                </a:solidFill>
                <a:latin typeface="Gotham"/>
                <a:ea typeface="Gotham"/>
                <a:cs typeface="Gotham"/>
                <a:sym typeface="Gotham"/>
              </a:rPr>
              <a:t>Presentation topic:-</a:t>
            </a:r>
          </a:p>
          <a:p>
            <a:pPr algn="ctr">
              <a:lnSpc>
                <a:spcPts val="2403"/>
              </a:lnSpc>
            </a:pPr>
          </a:p>
          <a:p>
            <a:pPr algn="ctr">
              <a:lnSpc>
                <a:spcPts val="4796"/>
              </a:lnSpc>
              <a:spcBef>
                <a:spcPct val="0"/>
              </a:spcBef>
            </a:pPr>
            <a:r>
              <a:rPr lang="en-US" b="true" sz="4207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Data-Driven Analysis of Metallurgical Properties using Machine Learning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23751" y="417335"/>
            <a:ext cx="12978220" cy="1647306"/>
            <a:chOff x="0" y="0"/>
            <a:chExt cx="17304294" cy="219640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9050"/>
              <a:ext cx="17304294" cy="9768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34"/>
                </a:lnSpc>
              </a:pPr>
              <a:r>
                <a:rPr lang="en-US" b="true" sz="4942">
                  <a:solidFill>
                    <a:srgbClr val="00206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National Institute Of Technology Raipur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709664" y="1082016"/>
              <a:ext cx="11884966" cy="11143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3"/>
                </a:lnSpc>
                <a:spcBef>
                  <a:spcPct val="0"/>
                </a:spcBef>
              </a:pPr>
              <a:r>
                <a:rPr lang="en-US" b="true" sz="2760" spc="-22">
                  <a:solidFill>
                    <a:srgbClr val="00367D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Department of Metallurgical and Materials Engineering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300" y="4081368"/>
            <a:ext cx="9757647" cy="6168956"/>
          </a:xfrm>
          <a:custGeom>
            <a:avLst/>
            <a:gdLst/>
            <a:ahLst/>
            <a:cxnLst/>
            <a:rect r="r" b="b" t="t" l="l"/>
            <a:pathLst>
              <a:path h="6168956" w="9757647">
                <a:moveTo>
                  <a:pt x="0" y="0"/>
                </a:moveTo>
                <a:lnTo>
                  <a:pt x="9757647" y="0"/>
                </a:lnTo>
                <a:lnTo>
                  <a:pt x="9757647" y="6168957"/>
                </a:lnTo>
                <a:lnTo>
                  <a:pt x="0" y="6168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71" t="-44996" r="-4556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310694" y="12264"/>
            <a:ext cx="17666612" cy="659987"/>
            <a:chOff x="0" y="0"/>
            <a:chExt cx="5822346" cy="2174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22346" cy="217424"/>
            </a:xfrm>
            <a:custGeom>
              <a:avLst/>
              <a:gdLst/>
              <a:ahLst/>
              <a:cxnLst/>
              <a:rect r="r" b="b" t="t" l="l"/>
              <a:pathLst>
                <a:path h="217424" w="5822346">
                  <a:moveTo>
                    <a:pt x="5822346" y="8764"/>
                  </a:moveTo>
                  <a:lnTo>
                    <a:pt x="5822346" y="208660"/>
                  </a:lnTo>
                  <a:cubicBezTo>
                    <a:pt x="5822346" y="213500"/>
                    <a:pt x="5818422" y="217424"/>
                    <a:pt x="5813581" y="217424"/>
                  </a:cubicBezTo>
                  <a:lnTo>
                    <a:pt x="8764" y="217424"/>
                  </a:lnTo>
                  <a:cubicBezTo>
                    <a:pt x="3924" y="217424"/>
                    <a:pt x="0" y="213500"/>
                    <a:pt x="0" y="208660"/>
                  </a:cubicBezTo>
                  <a:lnTo>
                    <a:pt x="0" y="8764"/>
                  </a:lnTo>
                  <a:cubicBezTo>
                    <a:pt x="0" y="3924"/>
                    <a:pt x="3924" y="0"/>
                    <a:pt x="8764" y="0"/>
                  </a:cubicBezTo>
                  <a:lnTo>
                    <a:pt x="5813581" y="0"/>
                  </a:lnTo>
                  <a:cubicBezTo>
                    <a:pt x="5815906" y="0"/>
                    <a:pt x="5818135" y="923"/>
                    <a:pt x="5819779" y="2567"/>
                  </a:cubicBezTo>
                  <a:cubicBezTo>
                    <a:pt x="5821423" y="4211"/>
                    <a:pt x="5822346" y="6440"/>
                    <a:pt x="5822346" y="8764"/>
                  </a:cubicBezTo>
                  <a:close/>
                </a:path>
              </a:pathLst>
            </a:custGeom>
            <a:solidFill>
              <a:srgbClr val="00357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822346" cy="217424"/>
            </a:xfrm>
            <a:prstGeom prst="rect">
              <a:avLst/>
            </a:prstGeom>
          </p:spPr>
          <p:txBody>
            <a:bodyPr anchor="ctr" rtlCol="false" tIns="55954" lIns="55954" bIns="55954" rIns="5595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734597" y="918459"/>
            <a:ext cx="7159436" cy="3380173"/>
            <a:chOff x="0" y="0"/>
            <a:chExt cx="1885613" cy="8902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85613" cy="890251"/>
            </a:xfrm>
            <a:custGeom>
              <a:avLst/>
              <a:gdLst/>
              <a:ahLst/>
              <a:cxnLst/>
              <a:rect r="r" b="b" t="t" l="l"/>
              <a:pathLst>
                <a:path h="890251" w="1885613">
                  <a:moveTo>
                    <a:pt x="0" y="0"/>
                  </a:moveTo>
                  <a:lnTo>
                    <a:pt x="1885613" y="0"/>
                  </a:lnTo>
                  <a:lnTo>
                    <a:pt x="1885613" y="890251"/>
                  </a:lnTo>
                  <a:lnTo>
                    <a:pt x="0" y="890251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85613" cy="937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734597" y="880359"/>
            <a:ext cx="7159436" cy="227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4"/>
              </a:lnSpc>
            </a:pPr>
          </a:p>
          <a:p>
            <a:pPr algn="l" marL="353813" indent="-176907" lvl="1">
              <a:lnSpc>
                <a:spcPts val="2294"/>
              </a:lnSpc>
              <a:buFont typeface="Arial"/>
              <a:buChar char="•"/>
            </a:pPr>
            <a:r>
              <a:rPr lang="en-US" b="true" sz="163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Dataset is well distributed (no major bias)</a:t>
            </a:r>
          </a:p>
          <a:p>
            <a:pPr algn="l" marL="353813" indent="-176907" lvl="1">
              <a:lnSpc>
                <a:spcPts val="2294"/>
              </a:lnSpc>
              <a:buFont typeface="Arial"/>
              <a:buChar char="•"/>
            </a:pPr>
            <a:r>
              <a:rPr lang="en-US" b="true" sz="163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Covers composition + processing + microstructure + properties</a:t>
            </a:r>
          </a:p>
          <a:p>
            <a:pPr algn="l" marL="353813" indent="-176907" lvl="1">
              <a:lnSpc>
                <a:spcPts val="2294"/>
              </a:lnSpc>
              <a:buFont typeface="Arial"/>
              <a:buChar char="•"/>
            </a:pPr>
            <a:r>
              <a:rPr lang="en-US" b="true" sz="163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Cooling rate varies widely → major influencing factor</a:t>
            </a:r>
          </a:p>
          <a:p>
            <a:pPr algn="l" marL="353813" indent="-176907" lvl="1">
              <a:lnSpc>
                <a:spcPts val="2294"/>
              </a:lnSpc>
              <a:buFont typeface="Arial"/>
              <a:buChar char="•"/>
            </a:pPr>
            <a:r>
              <a:rPr lang="en-US" b="true" sz="163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Martensite variation → controls hardness</a:t>
            </a:r>
          </a:p>
          <a:p>
            <a:pPr algn="l" marL="353813" indent="-176907" lvl="1">
              <a:lnSpc>
                <a:spcPts val="2294"/>
              </a:lnSpc>
              <a:buFont typeface="Arial"/>
              <a:buChar char="•"/>
            </a:pPr>
            <a:r>
              <a:rPr lang="en-US" b="true" sz="163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Grain size mostly small → higher strength trend</a:t>
            </a:r>
          </a:p>
          <a:p>
            <a:pPr algn="l" marL="353813" indent="-176907" lvl="1">
              <a:lnSpc>
                <a:spcPts val="2294"/>
              </a:lnSpc>
              <a:buFont typeface="Arial"/>
              <a:buChar char="•"/>
            </a:pPr>
            <a:r>
              <a:rPr lang="en-US" b="true" sz="163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Mechanical properties are normally distributed → good for ML</a:t>
            </a:r>
          </a:p>
          <a:p>
            <a:pPr algn="l">
              <a:lnSpc>
                <a:spcPts val="2294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2491066" y="3096955"/>
            <a:ext cx="3646498" cy="624350"/>
            <a:chOff x="0" y="0"/>
            <a:chExt cx="960395" cy="1644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60395" cy="164438"/>
            </a:xfrm>
            <a:custGeom>
              <a:avLst/>
              <a:gdLst/>
              <a:ahLst/>
              <a:cxnLst/>
              <a:rect r="r" b="b" t="t" l="l"/>
              <a:pathLst>
                <a:path h="164438" w="960395">
                  <a:moveTo>
                    <a:pt x="0" y="0"/>
                  </a:moveTo>
                  <a:lnTo>
                    <a:pt x="960395" y="0"/>
                  </a:lnTo>
                  <a:lnTo>
                    <a:pt x="960395" y="164438"/>
                  </a:lnTo>
                  <a:lnTo>
                    <a:pt x="0" y="164438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960395" cy="2120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6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128636" y="4546282"/>
            <a:ext cx="6371359" cy="4413451"/>
          </a:xfrm>
          <a:custGeom>
            <a:avLst/>
            <a:gdLst/>
            <a:ahLst/>
            <a:cxnLst/>
            <a:rect r="r" b="b" t="t" l="l"/>
            <a:pathLst>
              <a:path h="4413451" w="6371359">
                <a:moveTo>
                  <a:pt x="0" y="0"/>
                </a:moveTo>
                <a:lnTo>
                  <a:pt x="6371358" y="0"/>
                </a:lnTo>
                <a:lnTo>
                  <a:pt x="6371358" y="4413451"/>
                </a:lnTo>
                <a:lnTo>
                  <a:pt x="0" y="4413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10817870" y="9207383"/>
            <a:ext cx="7159436" cy="1042942"/>
            <a:chOff x="0" y="0"/>
            <a:chExt cx="1885613" cy="2746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85613" cy="274684"/>
            </a:xfrm>
            <a:custGeom>
              <a:avLst/>
              <a:gdLst/>
              <a:ahLst/>
              <a:cxnLst/>
              <a:rect r="r" b="b" t="t" l="l"/>
              <a:pathLst>
                <a:path h="274684" w="1885613">
                  <a:moveTo>
                    <a:pt x="0" y="0"/>
                  </a:moveTo>
                  <a:lnTo>
                    <a:pt x="1885613" y="0"/>
                  </a:lnTo>
                  <a:lnTo>
                    <a:pt x="1885613" y="274684"/>
                  </a:lnTo>
                  <a:lnTo>
                    <a:pt x="0" y="274684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885613" cy="322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435300" y="918459"/>
            <a:ext cx="9757647" cy="3022902"/>
          </a:xfrm>
          <a:custGeom>
            <a:avLst/>
            <a:gdLst/>
            <a:ahLst/>
            <a:cxnLst/>
            <a:rect r="r" b="b" t="t" l="l"/>
            <a:pathLst>
              <a:path h="3022902" w="9757647">
                <a:moveTo>
                  <a:pt x="0" y="0"/>
                </a:moveTo>
                <a:lnTo>
                  <a:pt x="9757647" y="0"/>
                </a:lnTo>
                <a:lnTo>
                  <a:pt x="9757647" y="3022902"/>
                </a:lnTo>
                <a:lnTo>
                  <a:pt x="0" y="3022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ysDot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4941667" y="18725"/>
            <a:ext cx="805771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Exploratory Data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62984" y="3199325"/>
            <a:ext cx="2102662" cy="37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187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KEY INSIGHT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02472" y="3361505"/>
            <a:ext cx="8223686" cy="119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  <a:spcBef>
                <a:spcPct val="0"/>
              </a:spcBef>
            </a:pPr>
          </a:p>
          <a:p>
            <a:pPr algn="ctr">
              <a:lnSpc>
                <a:spcPts val="3164"/>
              </a:lnSpc>
              <a:spcBef>
                <a:spcPct val="0"/>
              </a:spcBef>
            </a:pPr>
            <a:r>
              <a:rPr lang="en-US" b="true" sz="2260">
                <a:solidFill>
                  <a:srgbClr val="1800AD"/>
                </a:solidFill>
                <a:latin typeface="Gotham Bold"/>
                <a:ea typeface="Gotham Bold"/>
                <a:cs typeface="Gotham Bold"/>
                <a:sym typeface="Gotham Bold"/>
              </a:rPr>
              <a:t>Cooling Rate ↑ → Martensite ↑ → Hardness ↑</a:t>
            </a:r>
          </a:p>
          <a:p>
            <a:pPr algn="ctr">
              <a:lnSpc>
                <a:spcPts val="3164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808345" y="9118905"/>
            <a:ext cx="6874832" cy="1475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5"/>
              </a:lnSpc>
            </a:pPr>
          </a:p>
          <a:p>
            <a:pPr algn="l" marL="369368" indent="-184684" lvl="1">
              <a:lnSpc>
                <a:spcPts val="2395"/>
              </a:lnSpc>
              <a:buFont typeface="Arial"/>
              <a:buChar char="•"/>
            </a:pPr>
            <a:r>
              <a:rPr lang="en-US" b="true" sz="171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Martensite shows highest variation → major strength driver</a:t>
            </a:r>
          </a:p>
          <a:p>
            <a:pPr algn="l" marL="369368" indent="-184684" lvl="1">
              <a:lnSpc>
                <a:spcPts val="2395"/>
              </a:lnSpc>
              <a:buFont typeface="Arial"/>
              <a:buChar char="•"/>
            </a:pPr>
            <a:r>
              <a:rPr lang="en-US" b="true" sz="171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Ferrite &amp; Pearlite more stable phases</a:t>
            </a:r>
          </a:p>
          <a:p>
            <a:pPr algn="ctr">
              <a:lnSpc>
                <a:spcPts val="2395"/>
              </a:lnSpc>
              <a:spcBef>
                <a:spcPct val="0"/>
              </a:spcBef>
            </a:pPr>
          </a:p>
          <a:p>
            <a:pPr algn="ctr">
              <a:lnSpc>
                <a:spcPts val="2395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1961" y="210250"/>
            <a:ext cx="7916869" cy="6652229"/>
          </a:xfrm>
          <a:custGeom>
            <a:avLst/>
            <a:gdLst/>
            <a:ahLst/>
            <a:cxnLst/>
            <a:rect r="r" b="b" t="t" l="l"/>
            <a:pathLst>
              <a:path h="6652229" w="7916869">
                <a:moveTo>
                  <a:pt x="0" y="0"/>
                </a:moveTo>
                <a:lnTo>
                  <a:pt x="7916869" y="0"/>
                </a:lnTo>
                <a:lnTo>
                  <a:pt x="7916869" y="6652229"/>
                </a:lnTo>
                <a:lnTo>
                  <a:pt x="0" y="665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12" t="0" r="-792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376887" y="210250"/>
            <a:ext cx="8500741" cy="6652229"/>
          </a:xfrm>
          <a:custGeom>
            <a:avLst/>
            <a:gdLst/>
            <a:ahLst/>
            <a:cxnLst/>
            <a:rect r="r" b="b" t="t" l="l"/>
            <a:pathLst>
              <a:path h="6652229" w="8500741">
                <a:moveTo>
                  <a:pt x="0" y="0"/>
                </a:moveTo>
                <a:lnTo>
                  <a:pt x="8500742" y="0"/>
                </a:lnTo>
                <a:lnTo>
                  <a:pt x="8500742" y="6652229"/>
                </a:lnTo>
                <a:lnTo>
                  <a:pt x="0" y="66522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40" t="0" r="-7350" b="-1468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221933" y="7406763"/>
            <a:ext cx="8539663" cy="2414049"/>
            <a:chOff x="0" y="0"/>
            <a:chExt cx="2249129" cy="6357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9129" cy="635799"/>
            </a:xfrm>
            <a:custGeom>
              <a:avLst/>
              <a:gdLst/>
              <a:ahLst/>
              <a:cxnLst/>
              <a:rect r="r" b="b" t="t" l="l"/>
              <a:pathLst>
                <a:path h="635799" w="2249129">
                  <a:moveTo>
                    <a:pt x="0" y="0"/>
                  </a:moveTo>
                  <a:lnTo>
                    <a:pt x="2249129" y="0"/>
                  </a:lnTo>
                  <a:lnTo>
                    <a:pt x="2249129" y="635799"/>
                  </a:lnTo>
                  <a:lnTo>
                    <a:pt x="0" y="635799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249129" cy="683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0629" y="7549619"/>
            <a:ext cx="8423506" cy="243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198" indent="-247599" lvl="1">
              <a:lnSpc>
                <a:spcPts val="3211"/>
              </a:lnSpc>
              <a:buFont typeface="Arial"/>
              <a:buChar char="•"/>
            </a:pPr>
            <a:r>
              <a:rPr lang="en-US" b="true" sz="229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Correlation Matrix Insights</a:t>
            </a:r>
          </a:p>
          <a:p>
            <a:pPr algn="l" marL="495198" indent="-247599" lvl="1">
              <a:lnSpc>
                <a:spcPts val="3211"/>
              </a:lnSpc>
              <a:buFont typeface="Arial"/>
              <a:buChar char="•"/>
            </a:pPr>
            <a:r>
              <a:rPr lang="en-US" b="true" sz="229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Hardness, UTS, </a:t>
            </a:r>
            <a:r>
              <a:rPr lang="en-US" b="true" sz="229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Yield Strength → strongly correlated</a:t>
            </a:r>
          </a:p>
          <a:p>
            <a:pPr algn="l" marL="495198" indent="-247599" lvl="1">
              <a:lnSpc>
                <a:spcPts val="3211"/>
              </a:lnSpc>
              <a:buFont typeface="Arial"/>
              <a:buChar char="•"/>
            </a:pPr>
            <a:r>
              <a:rPr lang="en-US" b="true" sz="229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Martensite ↑ → Hardness ↑ (strong positive relation)</a:t>
            </a:r>
          </a:p>
          <a:p>
            <a:pPr algn="l" marL="495198" indent="-247599" lvl="1">
              <a:lnSpc>
                <a:spcPts val="3211"/>
              </a:lnSpc>
              <a:buFont typeface="Arial"/>
              <a:buChar char="•"/>
            </a:pPr>
            <a:r>
              <a:rPr lang="en-US" b="true" sz="229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Ferrite ↑ → Strength ↓ (negative relation)</a:t>
            </a:r>
          </a:p>
          <a:p>
            <a:pPr algn="l" marL="495198" indent="-247599" lvl="1">
              <a:lnSpc>
                <a:spcPts val="3211"/>
              </a:lnSpc>
              <a:buFont typeface="Arial"/>
              <a:buChar char="•"/>
            </a:pPr>
            <a:r>
              <a:rPr lang="en-US" b="true" sz="229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Grain Size ↑ → Strength ↓ (Hall-Petch relation)</a:t>
            </a:r>
          </a:p>
          <a:p>
            <a:pPr algn="l">
              <a:lnSpc>
                <a:spcPts val="3211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376887" y="7406763"/>
            <a:ext cx="8539663" cy="2414049"/>
            <a:chOff x="0" y="0"/>
            <a:chExt cx="2249129" cy="63579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9129" cy="635799"/>
            </a:xfrm>
            <a:custGeom>
              <a:avLst/>
              <a:gdLst/>
              <a:ahLst/>
              <a:cxnLst/>
              <a:rect r="r" b="b" t="t" l="l"/>
              <a:pathLst>
                <a:path h="635799" w="2249129">
                  <a:moveTo>
                    <a:pt x="0" y="0"/>
                  </a:moveTo>
                  <a:lnTo>
                    <a:pt x="2249129" y="0"/>
                  </a:lnTo>
                  <a:lnTo>
                    <a:pt x="2249129" y="635799"/>
                  </a:lnTo>
                  <a:lnTo>
                    <a:pt x="0" y="635799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9129" cy="6834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29988" y="7808227"/>
            <a:ext cx="6794540" cy="162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7"/>
              </a:lnSpc>
            </a:pPr>
          </a:p>
          <a:p>
            <a:pPr algn="l" marL="496566" indent="-248283" lvl="1">
              <a:lnSpc>
                <a:spcPts val="2667"/>
              </a:lnSpc>
              <a:buFont typeface="Arial"/>
              <a:buChar char="•"/>
            </a:pPr>
            <a:r>
              <a:rPr lang="en-US" b="true" sz="2299" spc="-1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Clear inve</a:t>
            </a:r>
            <a:r>
              <a:rPr lang="en-US" b="true" sz="2299" spc="-1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rse relation</a:t>
            </a:r>
          </a:p>
          <a:p>
            <a:pPr algn="l" marL="496566" indent="-248283" lvl="1">
              <a:lnSpc>
                <a:spcPts val="2667"/>
              </a:lnSpc>
              <a:buFont typeface="Arial"/>
              <a:buChar char="•"/>
            </a:pPr>
            <a:r>
              <a:rPr lang="en-US" b="true" sz="2299" spc="-1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Grain Size ↓ → UTS ↑ (Hall–Petch effect)</a:t>
            </a:r>
          </a:p>
          <a:p>
            <a:pPr algn="l" marL="496566" indent="-248283" lvl="1">
              <a:lnSpc>
                <a:spcPts val="2667"/>
              </a:lnSpc>
              <a:buFont typeface="Arial"/>
              <a:buChar char="•"/>
            </a:pPr>
            <a:r>
              <a:rPr lang="en-US" b="true" sz="2299" spc="-1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Fine grains → stronger material</a:t>
            </a:r>
          </a:p>
          <a:p>
            <a:pPr algn="ctr">
              <a:lnSpc>
                <a:spcPts val="231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718" y="793524"/>
            <a:ext cx="10264465" cy="1968401"/>
            <a:chOff x="0" y="0"/>
            <a:chExt cx="2703398" cy="5184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3398" cy="518427"/>
            </a:xfrm>
            <a:custGeom>
              <a:avLst/>
              <a:gdLst/>
              <a:ahLst/>
              <a:cxnLst/>
              <a:rect r="r" b="b" t="t" l="l"/>
              <a:pathLst>
                <a:path h="518427" w="2703398">
                  <a:moveTo>
                    <a:pt x="0" y="0"/>
                  </a:moveTo>
                  <a:lnTo>
                    <a:pt x="2703398" y="0"/>
                  </a:lnTo>
                  <a:lnTo>
                    <a:pt x="2703398" y="518427"/>
                  </a:lnTo>
                  <a:lnTo>
                    <a:pt x="0" y="518427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703398" cy="5660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384611" y="793524"/>
            <a:ext cx="11139292" cy="2027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8"/>
              </a:lnSpc>
              <a:spcBef>
                <a:spcPct val="0"/>
              </a:spcBef>
            </a:pPr>
          </a:p>
          <a:p>
            <a:pPr algn="ctr" marL="494319" indent="-247159" lvl="1">
              <a:lnSpc>
                <a:spcPts val="267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8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150 SAMPLES, 15 FEATURES → BALANCED DATASET</a:t>
            </a:r>
          </a:p>
          <a:p>
            <a:pPr algn="ctr" marL="494319" indent="-247159" lvl="1">
              <a:lnSpc>
                <a:spcPts val="267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8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COVERS COMPOSITION + HEAT TREATMENT + MICROSTRUCTURE + PROPERTIES</a:t>
            </a:r>
          </a:p>
          <a:p>
            <a:pPr algn="ctr" marL="494319" indent="-247159" lvl="1">
              <a:lnSpc>
                <a:spcPts val="267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89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NO MISSING VALUES → CLEAN DATASET</a:t>
            </a:r>
          </a:p>
          <a:p>
            <a:pPr algn="ctr">
              <a:lnSpc>
                <a:spcPts val="2678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7896649" y="3558721"/>
            <a:ext cx="10156394" cy="2030481"/>
            <a:chOff x="0" y="0"/>
            <a:chExt cx="2674935" cy="53477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4935" cy="534777"/>
            </a:xfrm>
            <a:custGeom>
              <a:avLst/>
              <a:gdLst/>
              <a:ahLst/>
              <a:cxnLst/>
              <a:rect r="r" b="b" t="t" l="l"/>
              <a:pathLst>
                <a:path h="534777" w="2674935">
                  <a:moveTo>
                    <a:pt x="0" y="0"/>
                  </a:moveTo>
                  <a:lnTo>
                    <a:pt x="2674935" y="0"/>
                  </a:lnTo>
                  <a:lnTo>
                    <a:pt x="2674935" y="534777"/>
                  </a:lnTo>
                  <a:lnTo>
                    <a:pt x="0" y="534777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674935" cy="5824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4337" y="6384012"/>
            <a:ext cx="9781586" cy="1939979"/>
            <a:chOff x="0" y="0"/>
            <a:chExt cx="2576220" cy="5109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76220" cy="510941"/>
            </a:xfrm>
            <a:custGeom>
              <a:avLst/>
              <a:gdLst/>
              <a:ahLst/>
              <a:cxnLst/>
              <a:rect r="r" b="b" t="t" l="l"/>
              <a:pathLst>
                <a:path h="510941" w="2576220">
                  <a:moveTo>
                    <a:pt x="0" y="0"/>
                  </a:moveTo>
                  <a:lnTo>
                    <a:pt x="2576220" y="0"/>
                  </a:lnTo>
                  <a:lnTo>
                    <a:pt x="2576220" y="510941"/>
                  </a:lnTo>
                  <a:lnTo>
                    <a:pt x="0" y="510941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576220" cy="558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837910" y="3344936"/>
            <a:ext cx="10273872" cy="2458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9"/>
              </a:lnSpc>
            </a:pPr>
          </a:p>
          <a:p>
            <a:pPr algn="ctr" marL="487469" indent="-243734" lvl="1">
              <a:lnSpc>
                <a:spcPts val="264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7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Properties (Hardness, UTS, </a:t>
            </a:r>
            <a:r>
              <a:rPr lang="en-US" b="true" sz="2257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YIELD) SHOW WIDE RANGE → GOOD VARIABILITY</a:t>
            </a:r>
          </a:p>
          <a:p>
            <a:pPr algn="ctr" marL="487469" indent="-243734" lvl="1">
              <a:lnSpc>
                <a:spcPts val="264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7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GRAIN SIZE HAS HIGH VARIATION → STRONG IMPACT FACTOR</a:t>
            </a:r>
          </a:p>
          <a:p>
            <a:pPr algn="ctr" marL="487469" indent="-243734" lvl="1">
              <a:lnSpc>
                <a:spcPts val="264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7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COOLING RATE VARIES SIGNIFICANTLY → IMPORTANT PROCESS PARAMETER</a:t>
            </a:r>
          </a:p>
          <a:p>
            <a:pPr algn="ctr">
              <a:lnSpc>
                <a:spcPts val="310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02956" y="6170227"/>
            <a:ext cx="10271626" cy="227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2"/>
              </a:lnSpc>
            </a:pPr>
            <a:r>
              <a:rPr lang="en-US" sz="2198" b="true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                           </a:t>
            </a:r>
          </a:p>
          <a:p>
            <a:pPr algn="l" marL="474653" indent="-237327" lvl="1">
              <a:lnSpc>
                <a:spcPts val="2572"/>
              </a:lnSpc>
              <a:buFont typeface="Arial"/>
              <a:buChar char="•"/>
            </a:pPr>
            <a:r>
              <a:rPr lang="en-US" b="true" sz="219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</a:t>
            </a:r>
            <a:r>
              <a:rPr lang="en-US" b="true" sz="219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OST FEATURES ≈ NORMALLY DISTRIBUTED (NEAR 0 SKEW)</a:t>
            </a:r>
          </a:p>
          <a:p>
            <a:pPr algn="l" marL="474653" indent="-237327" lvl="1">
              <a:lnSpc>
                <a:spcPts val="2572"/>
              </a:lnSpc>
              <a:buFont typeface="Arial"/>
              <a:buChar char="•"/>
            </a:pPr>
            <a:r>
              <a:rPr lang="en-US" b="true" sz="219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GRAIN SIZE HIGHLY SKEWED → NON-UNIFORM GRAIN DISTRIBUTION</a:t>
            </a:r>
          </a:p>
          <a:p>
            <a:pPr algn="l" marL="474653" indent="-237327" lvl="1">
              <a:lnSpc>
                <a:spcPts val="2572"/>
              </a:lnSpc>
              <a:buFont typeface="Arial"/>
              <a:buChar char="•"/>
            </a:pPr>
            <a:r>
              <a:rPr lang="en-US" b="true" sz="2198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SUITABLE FOR ML MODELS (NO MAJOR TRANSFORMATION NEEDED)</a:t>
            </a:r>
          </a:p>
          <a:p>
            <a:pPr algn="l">
              <a:lnSpc>
                <a:spcPts val="257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-462627" y="9050226"/>
            <a:ext cx="19074477" cy="95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9"/>
              </a:lnSpc>
              <a:spcBef>
                <a:spcPct val="0"/>
              </a:spcBef>
            </a:pPr>
            <a:r>
              <a:rPr lang="en-US" b="true" sz="321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CLEAN AND WELL-DI</a:t>
            </a:r>
            <a:r>
              <a:rPr lang="en-US" b="true" sz="321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STRIBUTED DATASET CAPTURING REALISTIC METALLURGY BEHAVIOR, IDEAL FOR MACHINE LEARNING ANALYSIS.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974583" y="2995443"/>
            <a:ext cx="5315991" cy="416168"/>
            <a:chOff x="0" y="0"/>
            <a:chExt cx="7087988" cy="55489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087988" cy="554891"/>
              <a:chOff x="0" y="0"/>
              <a:chExt cx="1303865" cy="102074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303865" cy="102074"/>
              </a:xfrm>
              <a:custGeom>
                <a:avLst/>
                <a:gdLst/>
                <a:ahLst/>
                <a:cxnLst/>
                <a:rect r="r" b="b" t="t" l="l"/>
                <a:pathLst>
                  <a:path h="102074" w="1303865">
                    <a:moveTo>
                      <a:pt x="0" y="0"/>
                    </a:moveTo>
                    <a:lnTo>
                      <a:pt x="1303865" y="0"/>
                    </a:lnTo>
                    <a:lnTo>
                      <a:pt x="1303865" y="102074"/>
                    </a:lnTo>
                    <a:lnTo>
                      <a:pt x="0" y="102074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1303865" cy="149699"/>
              </a:xfrm>
              <a:prstGeom prst="rect">
                <a:avLst/>
              </a:prstGeom>
            </p:spPr>
            <p:txBody>
              <a:bodyPr anchor="ctr" rtlCol="false" tIns="50325" lIns="50325" bIns="50325" rIns="50325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41869" y="9525"/>
              <a:ext cx="6309290" cy="498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6"/>
                </a:lnSpc>
                <a:spcBef>
                  <a:spcPct val="0"/>
                </a:spcBef>
              </a:pPr>
              <a:r>
                <a:rPr lang="en-US" b="true" sz="2518">
                  <a:solidFill>
                    <a:srgbClr val="00206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Statistical Insights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580659" y="235162"/>
            <a:ext cx="5315991" cy="416168"/>
            <a:chOff x="0" y="0"/>
            <a:chExt cx="7087988" cy="554891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7087988" cy="554891"/>
              <a:chOff x="0" y="0"/>
              <a:chExt cx="1303865" cy="10207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03865" cy="102074"/>
              </a:xfrm>
              <a:custGeom>
                <a:avLst/>
                <a:gdLst/>
                <a:ahLst/>
                <a:cxnLst/>
                <a:rect r="r" b="b" t="t" l="l"/>
                <a:pathLst>
                  <a:path h="102074" w="1303865">
                    <a:moveTo>
                      <a:pt x="0" y="0"/>
                    </a:moveTo>
                    <a:lnTo>
                      <a:pt x="1303865" y="0"/>
                    </a:lnTo>
                    <a:lnTo>
                      <a:pt x="1303865" y="102074"/>
                    </a:lnTo>
                    <a:lnTo>
                      <a:pt x="0" y="102074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1303865" cy="149699"/>
              </a:xfrm>
              <a:prstGeom prst="rect">
                <a:avLst/>
              </a:prstGeom>
            </p:spPr>
            <p:txBody>
              <a:bodyPr anchor="ctr" rtlCol="false" tIns="50325" lIns="50325" bIns="50325" rIns="50325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41869" y="9525"/>
              <a:ext cx="6309290" cy="498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6"/>
                </a:lnSpc>
                <a:spcBef>
                  <a:spcPct val="0"/>
                </a:spcBef>
              </a:pPr>
              <a:r>
                <a:rPr lang="en-US" b="true" sz="2518">
                  <a:solidFill>
                    <a:srgbClr val="00206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Dataset Overview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26530" y="5802987"/>
            <a:ext cx="5315991" cy="416168"/>
            <a:chOff x="0" y="0"/>
            <a:chExt cx="7087988" cy="554891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7087988" cy="554891"/>
              <a:chOff x="0" y="0"/>
              <a:chExt cx="1303865" cy="10207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303865" cy="102074"/>
              </a:xfrm>
              <a:custGeom>
                <a:avLst/>
                <a:gdLst/>
                <a:ahLst/>
                <a:cxnLst/>
                <a:rect r="r" b="b" t="t" l="l"/>
                <a:pathLst>
                  <a:path h="102074" w="1303865">
                    <a:moveTo>
                      <a:pt x="0" y="0"/>
                    </a:moveTo>
                    <a:lnTo>
                      <a:pt x="1303865" y="0"/>
                    </a:lnTo>
                    <a:lnTo>
                      <a:pt x="1303865" y="102074"/>
                    </a:lnTo>
                    <a:lnTo>
                      <a:pt x="0" y="102074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1303865" cy="149699"/>
              </a:xfrm>
              <a:prstGeom prst="rect">
                <a:avLst/>
              </a:prstGeom>
            </p:spPr>
            <p:txBody>
              <a:bodyPr anchor="ctr" rtlCol="false" tIns="50325" lIns="50325" bIns="50325" rIns="50325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41869" y="9525"/>
              <a:ext cx="6309290" cy="4988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6"/>
                </a:lnSpc>
                <a:spcBef>
                  <a:spcPct val="0"/>
                </a:spcBef>
              </a:pPr>
              <a:r>
                <a:rPr lang="en-US" b="true" sz="2518">
                  <a:solidFill>
                    <a:srgbClr val="00206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Skewness Insight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584" y="130311"/>
            <a:ext cx="17666612" cy="659987"/>
            <a:chOff x="0" y="0"/>
            <a:chExt cx="5822346" cy="2174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22346" cy="217424"/>
            </a:xfrm>
            <a:custGeom>
              <a:avLst/>
              <a:gdLst/>
              <a:ahLst/>
              <a:cxnLst/>
              <a:rect r="r" b="b" t="t" l="l"/>
              <a:pathLst>
                <a:path h="217424" w="5822346">
                  <a:moveTo>
                    <a:pt x="5822346" y="8764"/>
                  </a:moveTo>
                  <a:lnTo>
                    <a:pt x="5822346" y="208660"/>
                  </a:lnTo>
                  <a:cubicBezTo>
                    <a:pt x="5822346" y="213500"/>
                    <a:pt x="5818422" y="217424"/>
                    <a:pt x="5813581" y="217424"/>
                  </a:cubicBezTo>
                  <a:lnTo>
                    <a:pt x="8764" y="217424"/>
                  </a:lnTo>
                  <a:cubicBezTo>
                    <a:pt x="3924" y="217424"/>
                    <a:pt x="0" y="213500"/>
                    <a:pt x="0" y="208660"/>
                  </a:cubicBezTo>
                  <a:lnTo>
                    <a:pt x="0" y="8764"/>
                  </a:lnTo>
                  <a:cubicBezTo>
                    <a:pt x="0" y="3924"/>
                    <a:pt x="3924" y="0"/>
                    <a:pt x="8764" y="0"/>
                  </a:cubicBezTo>
                  <a:lnTo>
                    <a:pt x="5813581" y="0"/>
                  </a:lnTo>
                  <a:cubicBezTo>
                    <a:pt x="5815906" y="0"/>
                    <a:pt x="5818135" y="923"/>
                    <a:pt x="5819779" y="2567"/>
                  </a:cubicBezTo>
                  <a:cubicBezTo>
                    <a:pt x="5821423" y="4211"/>
                    <a:pt x="5822346" y="6440"/>
                    <a:pt x="5822346" y="8764"/>
                  </a:cubicBezTo>
                  <a:close/>
                </a:path>
              </a:pathLst>
            </a:custGeom>
            <a:solidFill>
              <a:srgbClr val="00357A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5822346" cy="217424"/>
            </a:xfrm>
            <a:prstGeom prst="rect">
              <a:avLst/>
            </a:prstGeom>
          </p:spPr>
          <p:txBody>
            <a:bodyPr anchor="ctr" rtlCol="false" tIns="55954" lIns="55954" bIns="55954" rIns="5595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25969" y="4385409"/>
            <a:ext cx="7315233" cy="5462298"/>
          </a:xfrm>
          <a:custGeom>
            <a:avLst/>
            <a:gdLst/>
            <a:ahLst/>
            <a:cxnLst/>
            <a:rect r="r" b="b" t="t" l="l"/>
            <a:pathLst>
              <a:path h="5462298" w="7315233">
                <a:moveTo>
                  <a:pt x="0" y="0"/>
                </a:moveTo>
                <a:lnTo>
                  <a:pt x="7315233" y="0"/>
                </a:lnTo>
                <a:lnTo>
                  <a:pt x="7315233" y="5462299"/>
                </a:lnTo>
                <a:lnTo>
                  <a:pt x="0" y="54622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03443" y="1028700"/>
            <a:ext cx="7655857" cy="5563452"/>
          </a:xfrm>
          <a:custGeom>
            <a:avLst/>
            <a:gdLst/>
            <a:ahLst/>
            <a:cxnLst/>
            <a:rect r="r" b="b" t="t" l="l"/>
            <a:pathLst>
              <a:path h="5563452" w="7655857">
                <a:moveTo>
                  <a:pt x="0" y="0"/>
                </a:moveTo>
                <a:lnTo>
                  <a:pt x="7655857" y="0"/>
                </a:lnTo>
                <a:lnTo>
                  <a:pt x="7655857" y="5563452"/>
                </a:lnTo>
                <a:lnTo>
                  <a:pt x="0" y="5563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59124" y="215060"/>
            <a:ext cx="14297073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b="true" sz="350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K MEANS CLUSTERING (UNSUPERVISED LEARNING)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89584" y="1968334"/>
            <a:ext cx="8539663" cy="2058241"/>
            <a:chOff x="0" y="0"/>
            <a:chExt cx="2249129" cy="5420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9129" cy="542088"/>
            </a:xfrm>
            <a:custGeom>
              <a:avLst/>
              <a:gdLst/>
              <a:ahLst/>
              <a:cxnLst/>
              <a:rect r="r" b="b" t="t" l="l"/>
              <a:pathLst>
                <a:path h="542088" w="2249129">
                  <a:moveTo>
                    <a:pt x="0" y="0"/>
                  </a:moveTo>
                  <a:lnTo>
                    <a:pt x="2249129" y="0"/>
                  </a:lnTo>
                  <a:lnTo>
                    <a:pt x="2249129" y="542088"/>
                  </a:lnTo>
                  <a:lnTo>
                    <a:pt x="0" y="542088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249129" cy="58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5803" y="1903262"/>
            <a:ext cx="8453444" cy="238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7"/>
              </a:lnSpc>
            </a:pPr>
            <a:r>
              <a:rPr lang="en-US" sz="1943" spc="-17" b="true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The elbow method graph shows a sharp decrease in inertia from k = 1 to k = 3, after which the decrease becomes gradual. This indicates that k = 3 is the optimal number of clusters for the dataset.</a:t>
            </a:r>
          </a:p>
          <a:p>
            <a:pPr algn="l">
              <a:lnSpc>
                <a:spcPts val="4857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665193" y="1028700"/>
            <a:ext cx="4737768" cy="558634"/>
            <a:chOff x="0" y="0"/>
            <a:chExt cx="1247807" cy="1471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7807" cy="147130"/>
            </a:xfrm>
            <a:custGeom>
              <a:avLst/>
              <a:gdLst/>
              <a:ahLst/>
              <a:cxnLst/>
              <a:rect r="r" b="b" t="t" l="l"/>
              <a:pathLst>
                <a:path h="147130" w="1247807">
                  <a:moveTo>
                    <a:pt x="0" y="0"/>
                  </a:moveTo>
                  <a:lnTo>
                    <a:pt x="1247807" y="0"/>
                  </a:lnTo>
                  <a:lnTo>
                    <a:pt x="1247807" y="147130"/>
                  </a:lnTo>
                  <a:lnTo>
                    <a:pt x="0" y="14713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47807" cy="194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82849" y="913179"/>
            <a:ext cx="4502455" cy="54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7"/>
              </a:lnSpc>
            </a:pPr>
            <a:r>
              <a:rPr lang="en-US" b="true" sz="1943" spc="-17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Elbow Method for Optimal Clusters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53525" y="6830277"/>
            <a:ext cx="8505976" cy="2799670"/>
            <a:chOff x="0" y="0"/>
            <a:chExt cx="2240257" cy="7373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0257" cy="737362"/>
            </a:xfrm>
            <a:custGeom>
              <a:avLst/>
              <a:gdLst/>
              <a:ahLst/>
              <a:cxnLst/>
              <a:rect r="r" b="b" t="t" l="l"/>
              <a:pathLst>
                <a:path h="737362" w="2240257">
                  <a:moveTo>
                    <a:pt x="0" y="0"/>
                  </a:moveTo>
                  <a:lnTo>
                    <a:pt x="2240257" y="0"/>
                  </a:lnTo>
                  <a:lnTo>
                    <a:pt x="2240257" y="737362"/>
                  </a:lnTo>
                  <a:lnTo>
                    <a:pt x="0" y="737362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240257" cy="7849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274635" y="7048037"/>
            <a:ext cx="8384867" cy="2581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319"/>
              </a:lnSpc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Data is gr</a:t>
            </a: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ouped into 3 distinct clusters using PCA</a:t>
            </a:r>
          </a:p>
          <a:p>
            <a:pPr algn="l" marL="431797" indent="-215899" lvl="1">
              <a:lnSpc>
                <a:spcPts val="2319"/>
              </a:lnSpc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Clustering is based on composition, heat treatment, and microstructure</a:t>
            </a:r>
          </a:p>
          <a:p>
            <a:pPr algn="l" marL="431797" indent="-215899" lvl="1">
              <a:lnSpc>
                <a:spcPts val="2319"/>
              </a:lnSpc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One cluster represents high-strength (martensitic) materials</a:t>
            </a:r>
          </a:p>
          <a:p>
            <a:pPr algn="l" marL="431797" indent="-215899" lvl="1">
              <a:lnSpc>
                <a:spcPts val="2319"/>
              </a:lnSpc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One cluster represents ductile (ferrite–pearlite) materials</a:t>
            </a:r>
          </a:p>
          <a:p>
            <a:pPr algn="l" marL="431797" indent="-215899" lvl="1">
              <a:lnSpc>
                <a:spcPts val="2319"/>
              </a:lnSpc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One cluster shows balanced/intermediate properties</a:t>
            </a:r>
          </a:p>
          <a:p>
            <a:pPr algn="l" marL="431797" indent="-215899" lvl="1">
              <a:lnSpc>
                <a:spcPts val="2319"/>
              </a:lnSpc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Slight overlap indicates gradual transition between material behaviors</a:t>
            </a:r>
          </a:p>
          <a:p>
            <a:pPr algn="l">
              <a:lnSpc>
                <a:spcPts val="231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1771" y="0"/>
            <a:ext cx="8000686" cy="5904527"/>
          </a:xfrm>
          <a:custGeom>
            <a:avLst/>
            <a:gdLst/>
            <a:ahLst/>
            <a:cxnLst/>
            <a:rect r="r" b="b" t="t" l="l"/>
            <a:pathLst>
              <a:path h="5904527" w="8000686">
                <a:moveTo>
                  <a:pt x="0" y="0"/>
                </a:moveTo>
                <a:lnTo>
                  <a:pt x="8000686" y="0"/>
                </a:lnTo>
                <a:lnTo>
                  <a:pt x="8000686" y="5904527"/>
                </a:lnTo>
                <a:lnTo>
                  <a:pt x="0" y="59045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3648" y="4365230"/>
            <a:ext cx="7912798" cy="5921770"/>
          </a:xfrm>
          <a:custGeom>
            <a:avLst/>
            <a:gdLst/>
            <a:ahLst/>
            <a:cxnLst/>
            <a:rect r="r" b="b" t="t" l="l"/>
            <a:pathLst>
              <a:path h="5921770" w="7912798">
                <a:moveTo>
                  <a:pt x="0" y="0"/>
                </a:moveTo>
                <a:lnTo>
                  <a:pt x="7912799" y="0"/>
                </a:lnTo>
                <a:lnTo>
                  <a:pt x="7912799" y="5921770"/>
                </a:lnTo>
                <a:lnTo>
                  <a:pt x="0" y="59217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915228" y="212794"/>
            <a:ext cx="9141189" cy="3897098"/>
            <a:chOff x="0" y="0"/>
            <a:chExt cx="2407556" cy="10263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7556" cy="1026396"/>
            </a:xfrm>
            <a:custGeom>
              <a:avLst/>
              <a:gdLst/>
              <a:ahLst/>
              <a:cxnLst/>
              <a:rect r="r" b="b" t="t" l="l"/>
              <a:pathLst>
                <a:path h="1026396" w="2407556">
                  <a:moveTo>
                    <a:pt x="0" y="0"/>
                  </a:moveTo>
                  <a:lnTo>
                    <a:pt x="2407556" y="0"/>
                  </a:lnTo>
                  <a:lnTo>
                    <a:pt x="2407556" y="1026396"/>
                  </a:lnTo>
                  <a:lnTo>
                    <a:pt x="0" y="1026396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407556" cy="1074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915228" y="384981"/>
            <a:ext cx="9141189" cy="3724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319"/>
              </a:lnSpc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Plot shows relationship between Grain Size and UTS (Ultimate Tensile Strength)</a:t>
            </a:r>
          </a:p>
          <a:p>
            <a:pPr algn="l" marL="431797" indent="-215899" lvl="1">
              <a:lnSpc>
                <a:spcPts val="2319"/>
              </a:lnSpc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UTS decreases as grain size increases (inverse relationship)</a:t>
            </a:r>
          </a:p>
          <a:p>
            <a:pPr algn="l" marL="431797" indent="-215899" lvl="1">
              <a:lnSpc>
                <a:spcPts val="231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Smaller grain size leads to higher strength (grain b</a:t>
            </a: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oundary strengthening)</a:t>
            </a:r>
          </a:p>
          <a:p>
            <a:pPr algn="l" marL="431797" indent="-215899" lvl="1">
              <a:lnSpc>
                <a:spcPts val="231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Larger grains result in lower strength and more ductile behavior</a:t>
            </a:r>
          </a:p>
          <a:p>
            <a:pPr algn="l" marL="431797" indent="-215899" lvl="1">
              <a:lnSpc>
                <a:spcPts val="231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High UTS cluster → fine grains + stronger microstructure (martensitic/tempered)</a:t>
            </a:r>
          </a:p>
          <a:p>
            <a:pPr algn="l" marL="431797" indent="-215899" lvl="1">
              <a:lnSpc>
                <a:spcPts val="231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Low UTS cluster → coarse grains + ferrite–pearlite structure</a:t>
            </a:r>
          </a:p>
          <a:p>
            <a:pPr algn="l" marL="431797" indent="-215899" lvl="1">
              <a:lnSpc>
                <a:spcPts val="231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Clusters represent different microstructural conditions in the dataset</a:t>
            </a:r>
          </a:p>
          <a:p>
            <a:pPr algn="l" marL="431797" indent="-215899" lvl="1">
              <a:lnSpc>
                <a:spcPts val="2319"/>
              </a:lnSpc>
              <a:spcBef>
                <a:spcPct val="0"/>
              </a:spcBef>
              <a:buFont typeface="Arial"/>
              <a:buChar char="•"/>
            </a:pPr>
            <a:r>
              <a:rPr lang="en-US" sz="1999" spc="-15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Some scattered points indicate variation due to composition and heat treatment</a:t>
            </a:r>
          </a:p>
          <a:p>
            <a:pPr algn="l">
              <a:lnSpc>
                <a:spcPts val="231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0873" y="6170939"/>
            <a:ext cx="9082481" cy="3897098"/>
            <a:chOff x="0" y="0"/>
            <a:chExt cx="2392094" cy="10263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92094" cy="1026396"/>
            </a:xfrm>
            <a:custGeom>
              <a:avLst/>
              <a:gdLst/>
              <a:ahLst/>
              <a:cxnLst/>
              <a:rect r="r" b="b" t="t" l="l"/>
              <a:pathLst>
                <a:path h="1026396" w="2392094">
                  <a:moveTo>
                    <a:pt x="0" y="0"/>
                  </a:moveTo>
                  <a:lnTo>
                    <a:pt x="2392094" y="0"/>
                  </a:lnTo>
                  <a:lnTo>
                    <a:pt x="2392094" y="1026396"/>
                  </a:lnTo>
                  <a:lnTo>
                    <a:pt x="0" y="1026396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392094" cy="1074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3775" y="6433563"/>
            <a:ext cx="8916677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Plot shows relationship between Cooling Rate and Hardness in the dataset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Hardness increases with increasing cooling rate (positive trend)</a:t>
            </a:r>
          </a:p>
          <a:p>
            <a:pPr algn="l" marL="431801" indent="-215900" lvl="1">
              <a:lnSpc>
                <a:spcPts val="2400"/>
              </a:lnSpc>
              <a:buFont typeface="Arial"/>
              <a:buChar char="•"/>
            </a:pPr>
            <a:r>
              <a:rPr lang="en-US" sz="2000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Faster cooling promotes martensite formation → higher strength</a:t>
            </a:r>
          </a:p>
          <a:p>
            <a:pPr algn="l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Lower cooling rates lead to ferrite–pearlite → l</a:t>
            </a:r>
            <a:r>
              <a:rPr lang="en-US" sz="2000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ower hardness</a:t>
            </a:r>
          </a:p>
          <a:p>
            <a:pPr algn="l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Clusters represent different heat treatment conditions and microstructures</a:t>
            </a:r>
          </a:p>
          <a:p>
            <a:pPr algn="l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High hardness cluster → rapid cooling, martensitic structure</a:t>
            </a:r>
          </a:p>
          <a:p>
            <a:pPr algn="l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Low hardness cluster → slow cooling, ductile structure</a:t>
            </a:r>
          </a:p>
          <a:p>
            <a:pPr algn="l" marL="431801" indent="-215900" lvl="1">
              <a:lnSpc>
                <a:spcPts val="24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Overlap indicates gradual transition between microstructures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7201" y="209526"/>
            <a:ext cx="7789028" cy="5688503"/>
          </a:xfrm>
          <a:custGeom>
            <a:avLst/>
            <a:gdLst/>
            <a:ahLst/>
            <a:cxnLst/>
            <a:rect r="r" b="b" t="t" l="l"/>
            <a:pathLst>
              <a:path h="5688503" w="7789028">
                <a:moveTo>
                  <a:pt x="0" y="0"/>
                </a:moveTo>
                <a:lnTo>
                  <a:pt x="7789029" y="0"/>
                </a:lnTo>
                <a:lnTo>
                  <a:pt x="7789029" y="5688503"/>
                </a:lnTo>
                <a:lnTo>
                  <a:pt x="0" y="5688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47864" y="8415302"/>
            <a:ext cx="8709730" cy="1600200"/>
            <a:chOff x="0" y="0"/>
            <a:chExt cx="2293921" cy="4214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93921" cy="421452"/>
            </a:xfrm>
            <a:custGeom>
              <a:avLst/>
              <a:gdLst/>
              <a:ahLst/>
              <a:cxnLst/>
              <a:rect r="r" b="b" t="t" l="l"/>
              <a:pathLst>
                <a:path h="421452" w="2293921">
                  <a:moveTo>
                    <a:pt x="0" y="0"/>
                  </a:moveTo>
                  <a:lnTo>
                    <a:pt x="2293921" y="0"/>
                  </a:lnTo>
                  <a:lnTo>
                    <a:pt x="2293921" y="421452"/>
                  </a:lnTo>
                  <a:lnTo>
                    <a:pt x="0" y="421452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293921" cy="46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47864" y="839296"/>
            <a:ext cx="8709730" cy="1100678"/>
            <a:chOff x="0" y="0"/>
            <a:chExt cx="2293921" cy="2898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93921" cy="289890"/>
            </a:xfrm>
            <a:custGeom>
              <a:avLst/>
              <a:gdLst/>
              <a:ahLst/>
              <a:cxnLst/>
              <a:rect r="r" b="b" t="t" l="l"/>
              <a:pathLst>
                <a:path h="289890" w="2293921">
                  <a:moveTo>
                    <a:pt x="0" y="0"/>
                  </a:moveTo>
                  <a:lnTo>
                    <a:pt x="2293921" y="0"/>
                  </a:lnTo>
                  <a:lnTo>
                    <a:pt x="2293921" y="289890"/>
                  </a:lnTo>
                  <a:lnTo>
                    <a:pt x="0" y="289890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293921" cy="337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600187" y="858346"/>
            <a:ext cx="752431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5"/>
              </a:lnSpc>
            </a:pPr>
            <a:r>
              <a:rPr lang="en-US" sz="1412" spc="-1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Overall Clustering Insight</a:t>
            </a:r>
          </a:p>
          <a:p>
            <a:pPr algn="l" marL="305030" indent="-152515" lvl="1">
              <a:lnSpc>
                <a:spcPts val="1695"/>
              </a:lnSpc>
              <a:spcBef>
                <a:spcPct val="0"/>
              </a:spcBef>
              <a:buFont typeface="Arial"/>
              <a:buChar char="•"/>
            </a:pPr>
            <a:r>
              <a:rPr lang="en-US" sz="1412" spc="-1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Dataset is successfully divided int</a:t>
            </a:r>
            <a:r>
              <a:rPr lang="en-US" sz="1412" spc="-1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 3 meaningful material clusters</a:t>
            </a:r>
          </a:p>
          <a:p>
            <a:pPr algn="ctr" marL="305030" indent="-152515" lvl="1">
              <a:lnSpc>
                <a:spcPts val="1695"/>
              </a:lnSpc>
              <a:spcBef>
                <a:spcPct val="0"/>
              </a:spcBef>
              <a:buFont typeface="Arial"/>
              <a:buChar char="•"/>
            </a:pPr>
            <a:r>
              <a:rPr lang="en-US" sz="1412" spc="-1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Clustering is based on composition + heat treatment + microstructure + properties</a:t>
            </a:r>
          </a:p>
          <a:p>
            <a:pPr algn="l" marL="305030" indent="-152515" lvl="1">
              <a:lnSpc>
                <a:spcPts val="1695"/>
              </a:lnSpc>
              <a:spcBef>
                <a:spcPct val="0"/>
              </a:spcBef>
              <a:buFont typeface="Arial"/>
              <a:buChar char="•"/>
            </a:pPr>
            <a:r>
              <a:rPr lang="en-US" sz="1412" spc="-1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PCA confirms clear separation with slight overlap → real-world behavior</a:t>
            </a:r>
          </a:p>
          <a:p>
            <a:pPr algn="ctr">
              <a:lnSpc>
                <a:spcPts val="1695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247864" y="2077546"/>
            <a:ext cx="8709730" cy="1147761"/>
            <a:chOff x="0" y="0"/>
            <a:chExt cx="2293921" cy="3022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93921" cy="302291"/>
            </a:xfrm>
            <a:custGeom>
              <a:avLst/>
              <a:gdLst/>
              <a:ahLst/>
              <a:cxnLst/>
              <a:rect r="r" b="b" t="t" l="l"/>
              <a:pathLst>
                <a:path h="302291" w="2293921">
                  <a:moveTo>
                    <a:pt x="0" y="0"/>
                  </a:moveTo>
                  <a:lnTo>
                    <a:pt x="2293921" y="0"/>
                  </a:lnTo>
                  <a:lnTo>
                    <a:pt x="2293921" y="302291"/>
                  </a:lnTo>
                  <a:lnTo>
                    <a:pt x="0" y="302291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293921" cy="349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144444" y="2077546"/>
            <a:ext cx="881315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Micr</a:t>
            </a: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ostructure–Property Relationship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High martensite → High hardness &amp; UTS → brittle behavior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High ferrite–pearlite → Low strength → ductile behavior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Confirms fundamental metallurgy principles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9246976" y="3318176"/>
            <a:ext cx="8709730" cy="1600200"/>
            <a:chOff x="0" y="0"/>
            <a:chExt cx="2293921" cy="4214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3921" cy="421452"/>
            </a:xfrm>
            <a:custGeom>
              <a:avLst/>
              <a:gdLst/>
              <a:ahLst/>
              <a:cxnLst/>
              <a:rect r="r" b="b" t="t" l="l"/>
              <a:pathLst>
                <a:path h="421452" w="2293921">
                  <a:moveTo>
                    <a:pt x="0" y="0"/>
                  </a:moveTo>
                  <a:lnTo>
                    <a:pt x="2293921" y="0"/>
                  </a:lnTo>
                  <a:lnTo>
                    <a:pt x="2293921" y="421452"/>
                  </a:lnTo>
                  <a:lnTo>
                    <a:pt x="0" y="421452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93921" cy="469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144000" y="3411046"/>
            <a:ext cx="881315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Heat Treatment Insight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Higher c</a:t>
            </a: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ooling rate → higher hardness (martensite formation)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Lower cooling rate → softer ferrite–pearlite structure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Shows strong link:</a:t>
            </a:r>
          </a:p>
          <a:p>
            <a:pPr algn="just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Process → Structure → Property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9247864" y="5011246"/>
            <a:ext cx="8709730" cy="1137107"/>
            <a:chOff x="0" y="0"/>
            <a:chExt cx="2293921" cy="2994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93921" cy="299485"/>
            </a:xfrm>
            <a:custGeom>
              <a:avLst/>
              <a:gdLst/>
              <a:ahLst/>
              <a:cxnLst/>
              <a:rect r="r" b="b" t="t" l="l"/>
              <a:pathLst>
                <a:path h="299485" w="2293921">
                  <a:moveTo>
                    <a:pt x="0" y="0"/>
                  </a:moveTo>
                  <a:lnTo>
                    <a:pt x="2293921" y="0"/>
                  </a:lnTo>
                  <a:lnTo>
                    <a:pt x="2293921" y="299485"/>
                  </a:lnTo>
                  <a:lnTo>
                    <a:pt x="0" y="299485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293921" cy="347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247864" y="5011246"/>
            <a:ext cx="870973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G</a:t>
            </a: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rain Size Effect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Smaller grain size → higher UTS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Larger grain size → lower strength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Validates Hall–Petch relationship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9246976" y="6281702"/>
            <a:ext cx="8710618" cy="1956911"/>
            <a:chOff x="0" y="0"/>
            <a:chExt cx="2294155" cy="51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94155" cy="515400"/>
            </a:xfrm>
            <a:custGeom>
              <a:avLst/>
              <a:gdLst/>
              <a:ahLst/>
              <a:cxnLst/>
              <a:rect r="r" b="b" t="t" l="l"/>
              <a:pathLst>
                <a:path h="515400" w="2294155">
                  <a:moveTo>
                    <a:pt x="0" y="0"/>
                  </a:moveTo>
                  <a:lnTo>
                    <a:pt x="2294155" y="0"/>
                  </a:lnTo>
                  <a:lnTo>
                    <a:pt x="2294155" y="515400"/>
                  </a:lnTo>
                  <a:lnTo>
                    <a:pt x="0" y="515400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94155" cy="563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247864" y="6281702"/>
            <a:ext cx="881315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2" indent="-183516" lvl="1">
              <a:lnSpc>
                <a:spcPts val="204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Data grouped into 3 meaningful material clusters</a:t>
            </a:r>
          </a:p>
          <a:p>
            <a:pPr algn="l" marL="367032" indent="-183516" lvl="1">
              <a:lnSpc>
                <a:spcPts val="204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Each cluster represents a distinct metallurgical behavior</a:t>
            </a:r>
          </a:p>
          <a:p>
            <a:pPr algn="l" marL="367032" indent="-183516" lvl="1">
              <a:lnSpc>
                <a:spcPts val="204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 0 → High martensite → High hardness (quenched steel)</a:t>
            </a:r>
          </a:p>
          <a:p>
            <a:pPr algn="l" marL="367032" indent="-183516" lvl="1">
              <a:lnSpc>
                <a:spcPts val="204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 1 → Balanced phases → Moderate properties (tempered steel)</a:t>
            </a:r>
          </a:p>
          <a:p>
            <a:pPr algn="l" marL="367032" indent="-183516" lvl="1">
              <a:lnSpc>
                <a:spcPts val="204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 2 → Ferrite-rich → Low hardness (ductile steel)</a:t>
            </a:r>
          </a:p>
          <a:p>
            <a:pPr algn="l">
              <a:lnSpc>
                <a:spcPts val="2040"/>
              </a:lnSpc>
            </a:pPr>
          </a:p>
          <a:p>
            <a:pPr algn="ctr">
              <a:lnSpc>
                <a:spcPts val="2040"/>
              </a:lnSpc>
            </a:pPr>
            <a:r>
              <a:rPr lang="en-US" sz="1700" spc="-13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Shows natural grouping in materials without labels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195932" y="8510552"/>
            <a:ext cx="881359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PCA Insight</a:t>
            </a:r>
          </a:p>
          <a:p>
            <a:pPr algn="ctr">
              <a:lnSpc>
                <a:spcPts val="2160"/>
              </a:lnSpc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PCA reduced high-dimensional data → 2D visualization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First 2 c</a:t>
            </a: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omponents capture ~32% variance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Even with reduced dimensions, clusters remain distinguishable</a:t>
            </a:r>
          </a:p>
          <a:p>
            <a:pPr algn="l" marL="388622" indent="-194311" lvl="1">
              <a:lnSpc>
                <a:spcPts val="2160"/>
              </a:lnSpc>
              <a:spcBef>
                <a:spcPct val="0"/>
              </a:spcBef>
              <a:buFont typeface="Arial"/>
              <a:buChar char="•"/>
            </a:pPr>
            <a:r>
              <a:rPr lang="en-US" sz="180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Indicates strong underlying structure in data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00236" y="6148352"/>
            <a:ext cx="8671013" cy="3897098"/>
            <a:chOff x="0" y="0"/>
            <a:chExt cx="2283724" cy="10263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83724" cy="1026396"/>
            </a:xfrm>
            <a:custGeom>
              <a:avLst/>
              <a:gdLst/>
              <a:ahLst/>
              <a:cxnLst/>
              <a:rect r="r" b="b" t="t" l="l"/>
              <a:pathLst>
                <a:path h="1026396" w="2283724">
                  <a:moveTo>
                    <a:pt x="0" y="0"/>
                  </a:moveTo>
                  <a:lnTo>
                    <a:pt x="2283724" y="0"/>
                  </a:lnTo>
                  <a:lnTo>
                    <a:pt x="2283724" y="1026396"/>
                  </a:lnTo>
                  <a:lnTo>
                    <a:pt x="0" y="1026396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283724" cy="1074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8811" y="6288694"/>
            <a:ext cx="8780774" cy="389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3920" indent="-201960" lvl="1">
              <a:lnSpc>
                <a:spcPts val="2245"/>
              </a:lnSpc>
              <a:buFont typeface="Arial"/>
              <a:buChar char="•"/>
            </a:pP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Plot shows phase distribution across clusters</a:t>
            </a:r>
          </a:p>
          <a:p>
            <a:pPr algn="l" marL="403920" indent="-201960" lvl="1">
              <a:lnSpc>
                <a:spcPts val="2245"/>
              </a:lnSpc>
              <a:buFont typeface="Arial"/>
              <a:buChar char="•"/>
            </a:pP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Each cluster represents different microstructural composition in the dataset</a:t>
            </a:r>
          </a:p>
          <a:p>
            <a:pPr algn="l" marL="403920" indent="-201960" lvl="1">
              <a:lnSpc>
                <a:spcPts val="2245"/>
              </a:lnSpc>
              <a:buFont typeface="Arial"/>
              <a:buChar char="•"/>
            </a:pP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 0 → High martensite (~0.55)</a:t>
            </a:r>
          </a:p>
          <a:p>
            <a:pPr algn="l" marL="403920" indent="-201960" lvl="1">
              <a:lnSpc>
                <a:spcPts val="2245"/>
              </a:lnSpc>
              <a:buFont typeface="Arial"/>
              <a:buChar char="•"/>
            </a:pP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→ Indicates high strength, brittle (quenched steel)</a:t>
            </a:r>
          </a:p>
          <a:p>
            <a:pPr algn="l" marL="403920" indent="-201960" lvl="1">
              <a:lnSpc>
                <a:spcPts val="2245"/>
              </a:lnSpc>
              <a:buFont typeface="Arial"/>
              <a:buChar char="•"/>
            </a:pP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 1 → Balanced ferrite, pearlite, martensite</a:t>
            </a:r>
          </a:p>
          <a:p>
            <a:pPr algn="l" marL="403920" indent="-201960" lvl="1">
              <a:lnSpc>
                <a:spcPts val="2245"/>
              </a:lnSpc>
              <a:spcBef>
                <a:spcPct val="0"/>
              </a:spcBef>
              <a:buFont typeface="Arial"/>
              <a:buChar char="•"/>
            </a:pP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→ Represents tempered steel with m</a:t>
            </a: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oderate properties</a:t>
            </a:r>
          </a:p>
          <a:p>
            <a:pPr algn="l" marL="403920" indent="-201960" lvl="1">
              <a:lnSpc>
                <a:spcPts val="2245"/>
              </a:lnSpc>
              <a:spcBef>
                <a:spcPct val="0"/>
              </a:spcBef>
              <a:buFont typeface="Arial"/>
              <a:buChar char="•"/>
            </a:pP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 2 → High ferrite (~0.48), low martensite (~0.19)</a:t>
            </a:r>
          </a:p>
          <a:p>
            <a:pPr algn="l" marL="403920" indent="-201960" lvl="1">
              <a:lnSpc>
                <a:spcPts val="2245"/>
              </a:lnSpc>
              <a:spcBef>
                <a:spcPct val="0"/>
              </a:spcBef>
              <a:buFont typeface="Arial"/>
              <a:buChar char="•"/>
            </a:pP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→ Indicates ductile, low-strength material (ferrite–pearlite)</a:t>
            </a:r>
          </a:p>
          <a:p>
            <a:pPr algn="l" marL="403920" indent="-201960" lvl="1">
              <a:lnSpc>
                <a:spcPts val="2245"/>
              </a:lnSpc>
              <a:spcBef>
                <a:spcPct val="0"/>
              </a:spcBef>
              <a:buFont typeface="Arial"/>
              <a:buChar char="•"/>
            </a:pP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Clustering successfully separates materials based on microstructure–property relationship</a:t>
            </a:r>
          </a:p>
          <a:p>
            <a:pPr algn="l" marL="403920" indent="-201960" lvl="1">
              <a:lnSpc>
                <a:spcPts val="2245"/>
              </a:lnSpc>
              <a:spcBef>
                <a:spcPct val="0"/>
              </a:spcBef>
              <a:buFont typeface="Arial"/>
              <a:buChar char="•"/>
            </a:pPr>
            <a:r>
              <a:rPr lang="en-US" sz="1870" spc="-14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Shows strong link between heat treatment → phase formation → mechanical properties</a:t>
            </a:r>
          </a:p>
          <a:p>
            <a:pPr algn="l">
              <a:lnSpc>
                <a:spcPts val="2245"/>
              </a:lnSpc>
              <a:spcBef>
                <a:spcPct val="0"/>
              </a:spcBef>
            </a:pPr>
          </a:p>
        </p:txBody>
      </p:sp>
      <p:grpSp>
        <p:nvGrpSpPr>
          <p:cNvPr name="Group 31" id="31"/>
          <p:cNvGrpSpPr/>
          <p:nvPr/>
        </p:nvGrpSpPr>
        <p:grpSpPr>
          <a:xfrm rot="0">
            <a:off x="9976647" y="144106"/>
            <a:ext cx="7147857" cy="520494"/>
            <a:chOff x="0" y="0"/>
            <a:chExt cx="2355703" cy="1714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355703" cy="171470"/>
            </a:xfrm>
            <a:custGeom>
              <a:avLst/>
              <a:gdLst/>
              <a:ahLst/>
              <a:cxnLst/>
              <a:rect r="r" b="b" t="t" l="l"/>
              <a:pathLst>
                <a:path h="171470" w="2355703">
                  <a:moveTo>
                    <a:pt x="2355703" y="21662"/>
                  </a:moveTo>
                  <a:lnTo>
                    <a:pt x="2355703" y="149807"/>
                  </a:lnTo>
                  <a:cubicBezTo>
                    <a:pt x="2355703" y="161771"/>
                    <a:pt x="2346005" y="171470"/>
                    <a:pt x="2334041" y="171470"/>
                  </a:cubicBezTo>
                  <a:lnTo>
                    <a:pt x="21662" y="171470"/>
                  </a:lnTo>
                  <a:cubicBezTo>
                    <a:pt x="15917" y="171470"/>
                    <a:pt x="10407" y="169187"/>
                    <a:pt x="6345" y="165125"/>
                  </a:cubicBezTo>
                  <a:cubicBezTo>
                    <a:pt x="2282" y="161063"/>
                    <a:pt x="0" y="155553"/>
                    <a:pt x="0" y="149807"/>
                  </a:cubicBezTo>
                  <a:lnTo>
                    <a:pt x="0" y="21662"/>
                  </a:lnTo>
                  <a:cubicBezTo>
                    <a:pt x="0" y="15917"/>
                    <a:pt x="2282" y="10407"/>
                    <a:pt x="6345" y="6345"/>
                  </a:cubicBezTo>
                  <a:cubicBezTo>
                    <a:pt x="10407" y="2282"/>
                    <a:pt x="15917" y="0"/>
                    <a:pt x="21662" y="0"/>
                  </a:cubicBezTo>
                  <a:lnTo>
                    <a:pt x="2334041" y="0"/>
                  </a:lnTo>
                  <a:cubicBezTo>
                    <a:pt x="2339786" y="0"/>
                    <a:pt x="2345296" y="2282"/>
                    <a:pt x="2349358" y="6345"/>
                  </a:cubicBezTo>
                  <a:cubicBezTo>
                    <a:pt x="2353421" y="10407"/>
                    <a:pt x="2355703" y="15917"/>
                    <a:pt x="2355703" y="21662"/>
                  </a:cubicBezTo>
                  <a:close/>
                </a:path>
              </a:pathLst>
            </a:custGeom>
            <a:solidFill>
              <a:srgbClr val="00357A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355703" cy="171470"/>
            </a:xfrm>
            <a:prstGeom prst="rect">
              <a:avLst/>
            </a:prstGeom>
          </p:spPr>
          <p:txBody>
            <a:bodyPr anchor="ctr" rtlCol="false" tIns="55954" lIns="55954" bIns="55954" rIns="5595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151028" y="226450"/>
            <a:ext cx="678004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9"/>
              </a:lnSpc>
              <a:spcBef>
                <a:spcPct val="0"/>
              </a:spcBef>
            </a:pPr>
            <a:r>
              <a:rPr lang="en-US" b="true" sz="2541" spc="-2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FINAL</a:t>
            </a:r>
            <a:r>
              <a:rPr lang="en-US" b="true" sz="2541" spc="-2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INSIGHTS (K-Means + PCA)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9051" y="1277267"/>
            <a:ext cx="8864120" cy="6280115"/>
          </a:xfrm>
          <a:custGeom>
            <a:avLst/>
            <a:gdLst/>
            <a:ahLst/>
            <a:cxnLst/>
            <a:rect r="r" b="b" t="t" l="l"/>
            <a:pathLst>
              <a:path h="6280115" w="8864120">
                <a:moveTo>
                  <a:pt x="0" y="0"/>
                </a:moveTo>
                <a:lnTo>
                  <a:pt x="8864120" y="0"/>
                </a:lnTo>
                <a:lnTo>
                  <a:pt x="8864120" y="6280114"/>
                </a:lnTo>
                <a:lnTo>
                  <a:pt x="0" y="6280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9665" y="52965"/>
            <a:ext cx="17666612" cy="659987"/>
            <a:chOff x="0" y="0"/>
            <a:chExt cx="5822346" cy="2174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22346" cy="217424"/>
            </a:xfrm>
            <a:custGeom>
              <a:avLst/>
              <a:gdLst/>
              <a:ahLst/>
              <a:cxnLst/>
              <a:rect r="r" b="b" t="t" l="l"/>
              <a:pathLst>
                <a:path h="217424" w="5822346">
                  <a:moveTo>
                    <a:pt x="5822346" y="8764"/>
                  </a:moveTo>
                  <a:lnTo>
                    <a:pt x="5822346" y="208660"/>
                  </a:lnTo>
                  <a:cubicBezTo>
                    <a:pt x="5822346" y="213500"/>
                    <a:pt x="5818422" y="217424"/>
                    <a:pt x="5813581" y="217424"/>
                  </a:cubicBezTo>
                  <a:lnTo>
                    <a:pt x="8764" y="217424"/>
                  </a:lnTo>
                  <a:cubicBezTo>
                    <a:pt x="3924" y="217424"/>
                    <a:pt x="0" y="213500"/>
                    <a:pt x="0" y="208660"/>
                  </a:cubicBezTo>
                  <a:lnTo>
                    <a:pt x="0" y="8764"/>
                  </a:lnTo>
                  <a:cubicBezTo>
                    <a:pt x="0" y="3924"/>
                    <a:pt x="3924" y="0"/>
                    <a:pt x="8764" y="0"/>
                  </a:cubicBezTo>
                  <a:lnTo>
                    <a:pt x="5813581" y="0"/>
                  </a:lnTo>
                  <a:cubicBezTo>
                    <a:pt x="5815906" y="0"/>
                    <a:pt x="5818135" y="923"/>
                    <a:pt x="5819779" y="2567"/>
                  </a:cubicBezTo>
                  <a:cubicBezTo>
                    <a:pt x="5821423" y="4211"/>
                    <a:pt x="5822346" y="6440"/>
                    <a:pt x="5822346" y="8764"/>
                  </a:cubicBezTo>
                  <a:close/>
                </a:path>
              </a:pathLst>
            </a:custGeom>
            <a:solidFill>
              <a:srgbClr val="00357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822346" cy="217424"/>
            </a:xfrm>
            <a:prstGeom prst="rect">
              <a:avLst/>
            </a:prstGeom>
          </p:spPr>
          <p:txBody>
            <a:bodyPr anchor="ctr" rtlCol="false" tIns="55954" lIns="55954" bIns="55954" rIns="5595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752483" y="106834"/>
            <a:ext cx="9945172" cy="322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4"/>
              </a:lnSpc>
              <a:spcBef>
                <a:spcPct val="0"/>
              </a:spcBef>
            </a:pPr>
            <a:r>
              <a:rPr lang="en-US" b="true" sz="220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RANDOM FOREST &amp; GRADIENT BOOSTING (SUPERVISED LEARNING)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44000" y="1277267"/>
            <a:ext cx="8812277" cy="4149738"/>
            <a:chOff x="0" y="0"/>
            <a:chExt cx="2320929" cy="10929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20929" cy="1092935"/>
            </a:xfrm>
            <a:custGeom>
              <a:avLst/>
              <a:gdLst/>
              <a:ahLst/>
              <a:cxnLst/>
              <a:rect r="r" b="b" t="t" l="l"/>
              <a:pathLst>
                <a:path h="1092935" w="2320929">
                  <a:moveTo>
                    <a:pt x="0" y="0"/>
                  </a:moveTo>
                  <a:lnTo>
                    <a:pt x="2320929" y="0"/>
                  </a:lnTo>
                  <a:lnTo>
                    <a:pt x="2320929" y="1092935"/>
                  </a:lnTo>
                  <a:lnTo>
                    <a:pt x="0" y="1092935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320929" cy="1140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032428" y="1508937"/>
            <a:ext cx="9099315" cy="249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7802" indent="-228901" lvl="1">
              <a:lnSpc>
                <a:spcPts val="24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Pl</a:t>
            </a:r>
            <a:r>
              <a:rPr lang="en-US" b="true" sz="212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ot compares Actual vs Predicted Hardness values for the dataset</a:t>
            </a:r>
          </a:p>
          <a:p>
            <a:pPr algn="l" marL="457802" indent="-228901" lvl="1">
              <a:lnSpc>
                <a:spcPts val="24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Both models (Random Forest &amp; Gradient Boosting) closely follow actual values</a:t>
            </a:r>
          </a:p>
          <a:p>
            <a:pPr algn="l" marL="457802" indent="-228901" lvl="1">
              <a:lnSpc>
                <a:spcPts val="24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Points lie near diagonal → high prediction accuracy</a:t>
            </a:r>
          </a:p>
          <a:p>
            <a:pPr algn="l" marL="457802" indent="-228901" lvl="1">
              <a:lnSpc>
                <a:spcPts val="248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2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Confirms strong relationship between input features (composition, heat treatment, microstructure) and hardness</a:t>
            </a:r>
          </a:p>
          <a:p>
            <a:pPr algn="l">
              <a:lnSpc>
                <a:spcPts val="248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290563" y="4192327"/>
            <a:ext cx="8519152" cy="95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7"/>
              </a:lnSpc>
              <a:spcBef>
                <a:spcPct val="0"/>
              </a:spcBef>
            </a:pPr>
            <a:r>
              <a:rPr lang="en-US" b="true" sz="2151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B</a:t>
            </a:r>
            <a:r>
              <a:rPr lang="en-US" b="true" sz="2151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oth models accurately predict hardness, validating that material properties are strongly governed by composition, heat treatment, and microstructure in the dataset.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01556" y="5988980"/>
            <a:ext cx="5810876" cy="558634"/>
            <a:chOff x="0" y="0"/>
            <a:chExt cx="1530437" cy="1471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0437" cy="147130"/>
            </a:xfrm>
            <a:custGeom>
              <a:avLst/>
              <a:gdLst/>
              <a:ahLst/>
              <a:cxnLst/>
              <a:rect r="r" b="b" t="t" l="l"/>
              <a:pathLst>
                <a:path h="147130" w="1530437">
                  <a:moveTo>
                    <a:pt x="0" y="0"/>
                  </a:moveTo>
                  <a:lnTo>
                    <a:pt x="1530437" y="0"/>
                  </a:lnTo>
                  <a:lnTo>
                    <a:pt x="1530437" y="147130"/>
                  </a:lnTo>
                  <a:lnTo>
                    <a:pt x="0" y="14713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30437" cy="194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347418" y="6105086"/>
            <a:ext cx="8519152" cy="35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1"/>
              </a:lnSpc>
              <a:spcBef>
                <a:spcPct val="0"/>
              </a:spcBef>
            </a:pPr>
            <a:r>
              <a:rPr lang="en-US" b="true" sz="2351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Hardness accurately predicted using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0" y="6726248"/>
            <a:ext cx="8844224" cy="2221783"/>
            <a:chOff x="0" y="0"/>
            <a:chExt cx="2329343" cy="585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29343" cy="585161"/>
            </a:xfrm>
            <a:custGeom>
              <a:avLst/>
              <a:gdLst/>
              <a:ahLst/>
              <a:cxnLst/>
              <a:rect r="r" b="b" t="t" l="l"/>
              <a:pathLst>
                <a:path h="585161" w="2329343">
                  <a:moveTo>
                    <a:pt x="0" y="0"/>
                  </a:moveTo>
                  <a:lnTo>
                    <a:pt x="2329343" y="0"/>
                  </a:lnTo>
                  <a:lnTo>
                    <a:pt x="2329343" y="585161"/>
                  </a:lnTo>
                  <a:lnTo>
                    <a:pt x="0" y="585161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329343" cy="632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507069" y="6716723"/>
            <a:ext cx="8302645" cy="207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5"/>
              </a:lnSpc>
              <a:spcBef>
                <a:spcPct val="0"/>
              </a:spcBef>
            </a:pPr>
          </a:p>
          <a:p>
            <a:pPr algn="l" marL="488649" indent="-244325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2263" spc="-18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Cooling Rate (↑ cooling → ↑ hardness)</a:t>
            </a:r>
          </a:p>
          <a:p>
            <a:pPr algn="l" marL="488649" indent="-244325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2263" spc="-18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Martensite fraction (↑ martensite → ↑ hardness)</a:t>
            </a:r>
          </a:p>
          <a:p>
            <a:pPr algn="l" marL="488649" indent="-244325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2263" spc="-18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Grain Size (↓ grain size → ↑ strength &amp; hardness)</a:t>
            </a:r>
          </a:p>
          <a:p>
            <a:pPr algn="l" marL="488649" indent="-244325" lvl="1">
              <a:lnSpc>
                <a:spcPts val="2715"/>
              </a:lnSpc>
              <a:spcBef>
                <a:spcPct val="0"/>
              </a:spcBef>
              <a:buFont typeface="Arial"/>
              <a:buChar char="•"/>
            </a:pPr>
            <a:r>
              <a:rPr lang="en-US" sz="2263" spc="-18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Alloy composition (C, Cr, Ni, Mn influence hardenability)</a:t>
            </a:r>
          </a:p>
          <a:p>
            <a:pPr algn="l">
              <a:lnSpc>
                <a:spcPts val="2715"/>
              </a:lnSpc>
              <a:spcBef>
                <a:spcPct val="0"/>
              </a:spcBef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220151" y="7966941"/>
            <a:ext cx="8504918" cy="1962181"/>
            <a:chOff x="0" y="0"/>
            <a:chExt cx="2239978" cy="5167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39978" cy="516788"/>
            </a:xfrm>
            <a:custGeom>
              <a:avLst/>
              <a:gdLst/>
              <a:ahLst/>
              <a:cxnLst/>
              <a:rect r="r" b="b" t="t" l="l"/>
              <a:pathLst>
                <a:path h="516788" w="2239978">
                  <a:moveTo>
                    <a:pt x="0" y="0"/>
                  </a:moveTo>
                  <a:lnTo>
                    <a:pt x="2239978" y="0"/>
                  </a:lnTo>
                  <a:lnTo>
                    <a:pt x="2239978" y="516788"/>
                  </a:lnTo>
                  <a:lnTo>
                    <a:pt x="0" y="516788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239978" cy="564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29728" y="8090797"/>
            <a:ext cx="7726561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9"/>
              </a:lnSpc>
              <a:spcBef>
                <a:spcPct val="0"/>
              </a:spcBef>
            </a:pPr>
            <a:r>
              <a:rPr lang="en-US" sz="2541" spc="-2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</a:t>
            </a:r>
            <a:r>
              <a:rPr lang="en-US" sz="2541" spc="-2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ompared to Random Forest</a:t>
            </a:r>
          </a:p>
          <a:p>
            <a:pPr algn="ctr">
              <a:lnSpc>
                <a:spcPts val="3049"/>
              </a:lnSpc>
              <a:spcBef>
                <a:spcPct val="0"/>
              </a:spcBef>
            </a:pPr>
          </a:p>
          <a:p>
            <a:pPr algn="l" marL="548636" indent="-274318" lvl="1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541" spc="-2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Gradient Boosting slightly more precise</a:t>
            </a:r>
          </a:p>
          <a:p>
            <a:pPr algn="l" marL="548636" indent="-274318" lvl="1">
              <a:lnSpc>
                <a:spcPts val="3049"/>
              </a:lnSpc>
              <a:spcBef>
                <a:spcPct val="0"/>
              </a:spcBef>
              <a:buFont typeface="Arial"/>
              <a:buChar char="•"/>
            </a:pPr>
            <a:r>
              <a:rPr lang="en-US" sz="2541" spc="-2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Better at capturing small variations in dataset</a:t>
            </a:r>
          </a:p>
          <a:p>
            <a:pPr algn="ctr">
              <a:lnSpc>
                <a:spcPts val="304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1553" y="135991"/>
            <a:ext cx="8147891" cy="5900197"/>
          </a:xfrm>
          <a:custGeom>
            <a:avLst/>
            <a:gdLst/>
            <a:ahLst/>
            <a:cxnLst/>
            <a:rect r="r" b="b" t="t" l="l"/>
            <a:pathLst>
              <a:path h="5900197" w="8147891">
                <a:moveTo>
                  <a:pt x="0" y="0"/>
                </a:moveTo>
                <a:lnTo>
                  <a:pt x="8147891" y="0"/>
                </a:lnTo>
                <a:lnTo>
                  <a:pt x="8147891" y="5900197"/>
                </a:lnTo>
                <a:lnTo>
                  <a:pt x="0" y="5900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387680" y="135991"/>
            <a:ext cx="8228980" cy="5904527"/>
          </a:xfrm>
          <a:custGeom>
            <a:avLst/>
            <a:gdLst/>
            <a:ahLst/>
            <a:cxnLst/>
            <a:rect r="r" b="b" t="t" l="l"/>
            <a:pathLst>
              <a:path h="5904527" w="8228980">
                <a:moveTo>
                  <a:pt x="0" y="0"/>
                </a:moveTo>
                <a:lnTo>
                  <a:pt x="8228980" y="0"/>
                </a:lnTo>
                <a:lnTo>
                  <a:pt x="8228980" y="5904527"/>
                </a:lnTo>
                <a:lnTo>
                  <a:pt x="0" y="59045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5549" y="6302815"/>
            <a:ext cx="8873111" cy="3926564"/>
            <a:chOff x="0" y="0"/>
            <a:chExt cx="11830815" cy="523541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495285" y="0"/>
              <a:ext cx="6539057" cy="511917"/>
              <a:chOff x="0" y="0"/>
              <a:chExt cx="1303865" cy="10207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03865" cy="102074"/>
              </a:xfrm>
              <a:custGeom>
                <a:avLst/>
                <a:gdLst/>
                <a:ahLst/>
                <a:cxnLst/>
                <a:rect r="r" b="b" t="t" l="l"/>
                <a:pathLst>
                  <a:path h="102074" w="1303865">
                    <a:moveTo>
                      <a:pt x="0" y="0"/>
                    </a:moveTo>
                    <a:lnTo>
                      <a:pt x="1303865" y="0"/>
                    </a:lnTo>
                    <a:lnTo>
                      <a:pt x="1303865" y="102074"/>
                    </a:lnTo>
                    <a:lnTo>
                      <a:pt x="0" y="102074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303865" cy="149699"/>
              </a:xfrm>
              <a:prstGeom prst="rect">
                <a:avLst/>
              </a:prstGeom>
            </p:spPr>
            <p:txBody>
              <a:bodyPr anchor="ctr" rtlCol="false" tIns="50325" lIns="50325" bIns="50325" rIns="50325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902934" y="0"/>
              <a:ext cx="5820665" cy="469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8"/>
                </a:lnSpc>
                <a:spcBef>
                  <a:spcPct val="0"/>
                </a:spcBef>
              </a:pPr>
              <a:r>
                <a:rPr lang="en-US" b="true" sz="2323">
                  <a:solidFill>
                    <a:srgbClr val="00206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Model Performance Insight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204282" y="867517"/>
              <a:ext cx="11626533" cy="1498743"/>
              <a:chOff x="0" y="0"/>
              <a:chExt cx="2318290" cy="29884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18290" cy="298844"/>
              </a:xfrm>
              <a:custGeom>
                <a:avLst/>
                <a:gdLst/>
                <a:ahLst/>
                <a:cxnLst/>
                <a:rect r="r" b="b" t="t" l="l"/>
                <a:pathLst>
                  <a:path h="298844" w="2318290">
                    <a:moveTo>
                      <a:pt x="0" y="0"/>
                    </a:moveTo>
                    <a:lnTo>
                      <a:pt x="2318290" y="0"/>
                    </a:lnTo>
                    <a:lnTo>
                      <a:pt x="2318290" y="298844"/>
                    </a:lnTo>
                    <a:lnTo>
                      <a:pt x="0" y="298844"/>
                    </a:lnTo>
                    <a:close/>
                  </a:path>
                </a:pathLst>
              </a:custGeom>
              <a:solidFill>
                <a:srgbClr val="74DFF6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318290" cy="346469"/>
              </a:xfrm>
              <a:prstGeom prst="rect">
                <a:avLst/>
              </a:prstGeom>
            </p:spPr>
            <p:txBody>
              <a:bodyPr anchor="ctr" rtlCol="false" tIns="50325" lIns="50325" bIns="50325" rIns="50325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469002"/>
              <a:ext cx="11830815" cy="2095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07"/>
                </a:lnSpc>
                <a:spcBef>
                  <a:spcPct val="0"/>
                </a:spcBef>
              </a:pPr>
            </a:p>
            <a:p>
              <a:pPr algn="l" marL="451227" indent="-225613" lvl="1">
                <a:lnSpc>
                  <a:spcPts val="250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89" spc="-16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Points lie close to diagonal → high prediction accuracy</a:t>
              </a:r>
            </a:p>
            <a:p>
              <a:pPr algn="ctr" marL="451227" indent="-225613" lvl="1">
                <a:lnSpc>
                  <a:spcPts val="250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89" spc="-16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Indicates Random Forest captures strong patterns in dataset</a:t>
              </a:r>
            </a:p>
            <a:p>
              <a:pPr algn="l" marL="451227" indent="-225613" lvl="1">
                <a:lnSpc>
                  <a:spcPts val="250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089" spc="-16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Very few outliers → low prediction error</a:t>
              </a:r>
            </a:p>
            <a:p>
              <a:pPr algn="ctr">
                <a:lnSpc>
                  <a:spcPts val="2507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2543738" y="2691502"/>
              <a:ext cx="6539057" cy="511917"/>
              <a:chOff x="0" y="0"/>
              <a:chExt cx="1303865" cy="10207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03865" cy="102074"/>
              </a:xfrm>
              <a:custGeom>
                <a:avLst/>
                <a:gdLst/>
                <a:ahLst/>
                <a:cxnLst/>
                <a:rect r="r" b="b" t="t" l="l"/>
                <a:pathLst>
                  <a:path h="102074" w="1303865">
                    <a:moveTo>
                      <a:pt x="0" y="0"/>
                    </a:moveTo>
                    <a:lnTo>
                      <a:pt x="1303865" y="0"/>
                    </a:lnTo>
                    <a:lnTo>
                      <a:pt x="1303865" y="102074"/>
                    </a:lnTo>
                    <a:lnTo>
                      <a:pt x="0" y="102074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303865" cy="149699"/>
              </a:xfrm>
              <a:prstGeom prst="rect">
                <a:avLst/>
              </a:prstGeom>
            </p:spPr>
            <p:txBody>
              <a:bodyPr anchor="ctr" rtlCol="false" tIns="50325" lIns="50325" bIns="50325" rIns="50325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951387" y="2691502"/>
              <a:ext cx="5820665" cy="469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8"/>
                </a:lnSpc>
                <a:spcBef>
                  <a:spcPct val="0"/>
                </a:spcBef>
              </a:pPr>
              <a:r>
                <a:rPr lang="en-US" b="true" sz="2323">
                  <a:solidFill>
                    <a:srgbClr val="00206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Engineering Interpretation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204282" y="3445617"/>
              <a:ext cx="11626533" cy="1498743"/>
              <a:chOff x="0" y="0"/>
              <a:chExt cx="2318290" cy="29884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318290" cy="298844"/>
              </a:xfrm>
              <a:custGeom>
                <a:avLst/>
                <a:gdLst/>
                <a:ahLst/>
                <a:cxnLst/>
                <a:rect r="r" b="b" t="t" l="l"/>
                <a:pathLst>
                  <a:path h="298844" w="2318290">
                    <a:moveTo>
                      <a:pt x="0" y="0"/>
                    </a:moveTo>
                    <a:lnTo>
                      <a:pt x="2318290" y="0"/>
                    </a:lnTo>
                    <a:lnTo>
                      <a:pt x="2318290" y="298844"/>
                    </a:lnTo>
                    <a:lnTo>
                      <a:pt x="0" y="298844"/>
                    </a:lnTo>
                    <a:close/>
                  </a:path>
                </a:pathLst>
              </a:custGeom>
              <a:solidFill>
                <a:srgbClr val="74DFF6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2318290" cy="346469"/>
              </a:xfrm>
              <a:prstGeom prst="rect">
                <a:avLst/>
              </a:prstGeom>
            </p:spPr>
            <p:txBody>
              <a:bodyPr anchor="ctr" rtlCol="false" tIns="50325" lIns="50325" bIns="50325" rIns="50325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0" y="3559019"/>
              <a:ext cx="11830815" cy="1676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1227" indent="-225613" lvl="1">
                <a:lnSpc>
                  <a:spcPts val="2507"/>
                </a:lnSpc>
                <a:buFont typeface="Arial"/>
                <a:buChar char="•"/>
              </a:pPr>
              <a:r>
                <a:rPr lang="en-US" sz="2089" spc="-16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High hardness regions correspond to </a:t>
              </a:r>
              <a:r>
                <a:rPr lang="en-US" sz="2089" spc="-16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High martensite fraction</a:t>
              </a:r>
            </a:p>
            <a:p>
              <a:pPr algn="l" marL="451227" indent="-225613" lvl="1">
                <a:lnSpc>
                  <a:spcPts val="2507"/>
                </a:lnSpc>
                <a:buFont typeface="Arial"/>
                <a:buChar char="•"/>
              </a:pPr>
              <a:r>
                <a:rPr lang="en-US" sz="2089" spc="-16">
                  <a:solidFill>
                    <a:srgbClr val="000000"/>
                  </a:solidFill>
                  <a:latin typeface="Gotham"/>
                  <a:ea typeface="Gotham"/>
                  <a:cs typeface="Gotham"/>
                  <a:sym typeface="Gotham"/>
                </a:rPr>
                <a:t>Lower hardness regions correspond toFerrite–pearlite like structures</a:t>
              </a:r>
            </a:p>
            <a:p>
              <a:pPr algn="ctr">
                <a:lnSpc>
                  <a:spcPts val="250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20239" y="6302815"/>
            <a:ext cx="4904292" cy="383938"/>
            <a:chOff x="0" y="0"/>
            <a:chExt cx="6539057" cy="511917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539057" cy="511917"/>
              <a:chOff x="0" y="0"/>
              <a:chExt cx="1303865" cy="10207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03865" cy="102074"/>
              </a:xfrm>
              <a:custGeom>
                <a:avLst/>
                <a:gdLst/>
                <a:ahLst/>
                <a:cxnLst/>
                <a:rect r="r" b="b" t="t" l="l"/>
                <a:pathLst>
                  <a:path h="102074" w="1303865">
                    <a:moveTo>
                      <a:pt x="0" y="0"/>
                    </a:moveTo>
                    <a:lnTo>
                      <a:pt x="1303865" y="0"/>
                    </a:lnTo>
                    <a:lnTo>
                      <a:pt x="1303865" y="102074"/>
                    </a:lnTo>
                    <a:lnTo>
                      <a:pt x="0" y="102074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303865" cy="149699"/>
              </a:xfrm>
              <a:prstGeom prst="rect">
                <a:avLst/>
              </a:prstGeom>
            </p:spPr>
            <p:txBody>
              <a:bodyPr anchor="ctr" rtlCol="false" tIns="50325" lIns="50325" bIns="50325" rIns="50325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07649" y="0"/>
              <a:ext cx="5820665" cy="469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8"/>
                </a:lnSpc>
                <a:spcBef>
                  <a:spcPct val="0"/>
                </a:spcBef>
              </a:pPr>
              <a:r>
                <a:rPr lang="en-US" b="true" sz="2323">
                  <a:solidFill>
                    <a:srgbClr val="00206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Model Performance Insight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01987" y="6953452"/>
            <a:ext cx="8719900" cy="1124057"/>
            <a:chOff x="0" y="0"/>
            <a:chExt cx="2318290" cy="2988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18290" cy="298844"/>
            </a:xfrm>
            <a:custGeom>
              <a:avLst/>
              <a:gdLst/>
              <a:ahLst/>
              <a:cxnLst/>
              <a:rect r="r" b="b" t="t" l="l"/>
              <a:pathLst>
                <a:path h="298844" w="2318290">
                  <a:moveTo>
                    <a:pt x="0" y="0"/>
                  </a:moveTo>
                  <a:lnTo>
                    <a:pt x="2318290" y="0"/>
                  </a:lnTo>
                  <a:lnTo>
                    <a:pt x="2318290" y="298844"/>
                  </a:lnTo>
                  <a:lnTo>
                    <a:pt x="0" y="298844"/>
                  </a:lnTo>
                  <a:close/>
                </a:path>
              </a:pathLst>
            </a:custGeom>
            <a:solidFill>
              <a:srgbClr val="74DFF6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2318290" cy="346469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254330" y="7008797"/>
            <a:ext cx="10164467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Points closely aligned along diagonal → high prediction accuracy</a:t>
            </a:r>
          </a:p>
          <a:p>
            <a:pPr algn="l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Very small spread → low error &amp; good generalization</a:t>
            </a:r>
          </a:p>
          <a:p>
            <a:pPr algn="l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Gradient Boosting captures fine variations better</a:t>
            </a:r>
          </a:p>
          <a:p>
            <a:pPr algn="l">
              <a:lnSpc>
                <a:spcPts val="2507"/>
              </a:lnSpc>
              <a:spcBef>
                <a:spcPct val="0"/>
              </a:spcBef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11156579" y="8321441"/>
            <a:ext cx="4904292" cy="383938"/>
            <a:chOff x="0" y="0"/>
            <a:chExt cx="1303865" cy="1020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03865" cy="102074"/>
            </a:xfrm>
            <a:custGeom>
              <a:avLst/>
              <a:gdLst/>
              <a:ahLst/>
              <a:cxnLst/>
              <a:rect r="r" b="b" t="t" l="l"/>
              <a:pathLst>
                <a:path h="102074" w="1303865">
                  <a:moveTo>
                    <a:pt x="0" y="0"/>
                  </a:moveTo>
                  <a:lnTo>
                    <a:pt x="1303865" y="0"/>
                  </a:lnTo>
                  <a:lnTo>
                    <a:pt x="1303865" y="102074"/>
                  </a:lnTo>
                  <a:lnTo>
                    <a:pt x="0" y="10207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303865" cy="149699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462315" y="8321441"/>
            <a:ext cx="4365499" cy="35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b="true" sz="2323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Engineering Interpretation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01987" y="8887027"/>
            <a:ext cx="8719900" cy="1124057"/>
            <a:chOff x="0" y="0"/>
            <a:chExt cx="2318290" cy="29884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318290" cy="298844"/>
            </a:xfrm>
            <a:custGeom>
              <a:avLst/>
              <a:gdLst/>
              <a:ahLst/>
              <a:cxnLst/>
              <a:rect r="r" b="b" t="t" l="l"/>
              <a:pathLst>
                <a:path h="298844" w="2318290">
                  <a:moveTo>
                    <a:pt x="0" y="0"/>
                  </a:moveTo>
                  <a:lnTo>
                    <a:pt x="2318290" y="0"/>
                  </a:lnTo>
                  <a:lnTo>
                    <a:pt x="2318290" y="298844"/>
                  </a:lnTo>
                  <a:lnTo>
                    <a:pt x="0" y="298844"/>
                  </a:lnTo>
                  <a:close/>
                </a:path>
              </a:pathLst>
            </a:custGeom>
            <a:solidFill>
              <a:srgbClr val="74DFF6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318290" cy="346469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254330" y="8953029"/>
            <a:ext cx="7877203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High hardness predictions : M</a:t>
            </a: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artensitic structures</a:t>
            </a:r>
          </a:p>
          <a:p>
            <a:pPr algn="l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Medium hardness: Tempered structures</a:t>
            </a:r>
          </a:p>
          <a:p>
            <a:pPr algn="l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Low hardness : Ferrite–pearlite like microstructure</a:t>
            </a:r>
          </a:p>
          <a:p>
            <a:pPr algn="ctr">
              <a:lnSpc>
                <a:spcPts val="250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7849" y="353653"/>
            <a:ext cx="8037753" cy="5863082"/>
          </a:xfrm>
          <a:custGeom>
            <a:avLst/>
            <a:gdLst/>
            <a:ahLst/>
            <a:cxnLst/>
            <a:rect r="r" b="b" t="t" l="l"/>
            <a:pathLst>
              <a:path h="5863082" w="8037753">
                <a:moveTo>
                  <a:pt x="0" y="0"/>
                </a:moveTo>
                <a:lnTo>
                  <a:pt x="8037753" y="0"/>
                </a:lnTo>
                <a:lnTo>
                  <a:pt x="8037753" y="5863082"/>
                </a:lnTo>
                <a:lnTo>
                  <a:pt x="0" y="58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312807" y="353653"/>
            <a:ext cx="8406128" cy="5854268"/>
          </a:xfrm>
          <a:custGeom>
            <a:avLst/>
            <a:gdLst/>
            <a:ahLst/>
            <a:cxnLst/>
            <a:rect r="r" b="b" t="t" l="l"/>
            <a:pathLst>
              <a:path h="5854268" w="8406128">
                <a:moveTo>
                  <a:pt x="0" y="0"/>
                </a:moveTo>
                <a:lnTo>
                  <a:pt x="8406128" y="0"/>
                </a:lnTo>
                <a:lnTo>
                  <a:pt x="8406128" y="5854268"/>
                </a:lnTo>
                <a:lnTo>
                  <a:pt x="0" y="5854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53212" y="6540585"/>
            <a:ext cx="8719900" cy="3136173"/>
            <a:chOff x="0" y="0"/>
            <a:chExt cx="11626533" cy="418156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2291003" y="0"/>
              <a:ext cx="6539057" cy="511917"/>
              <a:chOff x="0" y="0"/>
              <a:chExt cx="1303865" cy="10207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303865" cy="102074"/>
              </a:xfrm>
              <a:custGeom>
                <a:avLst/>
                <a:gdLst/>
                <a:ahLst/>
                <a:cxnLst/>
                <a:rect r="r" b="b" t="t" l="l"/>
                <a:pathLst>
                  <a:path h="102074" w="1303865">
                    <a:moveTo>
                      <a:pt x="0" y="0"/>
                    </a:moveTo>
                    <a:lnTo>
                      <a:pt x="1303865" y="0"/>
                    </a:lnTo>
                    <a:lnTo>
                      <a:pt x="1303865" y="102074"/>
                    </a:lnTo>
                    <a:lnTo>
                      <a:pt x="0" y="102074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303865" cy="149699"/>
              </a:xfrm>
              <a:prstGeom prst="rect">
                <a:avLst/>
              </a:prstGeom>
            </p:spPr>
            <p:txBody>
              <a:bodyPr anchor="ctr" rtlCol="false" tIns="50325" lIns="50325" bIns="50325" rIns="50325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2698652" y="0"/>
              <a:ext cx="5820665" cy="4690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18"/>
                </a:lnSpc>
                <a:spcBef>
                  <a:spcPct val="0"/>
                </a:spcBef>
              </a:pPr>
              <a:r>
                <a:rPr lang="en-US" b="true" sz="2323">
                  <a:solidFill>
                    <a:srgbClr val="00206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Key Takeaway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0" y="961014"/>
              <a:ext cx="11626533" cy="3220550"/>
              <a:chOff x="0" y="0"/>
              <a:chExt cx="2318290" cy="64216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18290" cy="642166"/>
              </a:xfrm>
              <a:custGeom>
                <a:avLst/>
                <a:gdLst/>
                <a:ahLst/>
                <a:cxnLst/>
                <a:rect r="r" b="b" t="t" l="l"/>
                <a:pathLst>
                  <a:path h="642166" w="2318290">
                    <a:moveTo>
                      <a:pt x="0" y="0"/>
                    </a:moveTo>
                    <a:lnTo>
                      <a:pt x="2318290" y="0"/>
                    </a:lnTo>
                    <a:lnTo>
                      <a:pt x="2318290" y="642166"/>
                    </a:lnTo>
                    <a:lnTo>
                      <a:pt x="0" y="642166"/>
                    </a:lnTo>
                    <a:close/>
                  </a:path>
                </a:pathLst>
              </a:custGeom>
              <a:solidFill>
                <a:srgbClr val="74DFF6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318290" cy="689791"/>
              </a:xfrm>
              <a:prstGeom prst="rect">
                <a:avLst/>
              </a:prstGeom>
            </p:spPr>
            <p:txBody>
              <a:bodyPr anchor="ctr" rtlCol="false" tIns="50325" lIns="50325" bIns="50325" rIns="50325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167318" y="1528120"/>
              <a:ext cx="9496161" cy="2514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451227" indent="-225613" lvl="1">
                <a:lnSpc>
                  <a:spcPts val="2507"/>
                </a:lnSpc>
                <a:buFont typeface="Arial"/>
                <a:buChar char="•"/>
              </a:pPr>
              <a:r>
                <a:rPr lang="en-US" b="true" sz="2089" spc="-16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Both models effectively predict hardness from metallurgical parameters</a:t>
              </a:r>
            </a:p>
            <a:p>
              <a:pPr algn="ctr">
                <a:lnSpc>
                  <a:spcPts val="2507"/>
                </a:lnSpc>
              </a:pPr>
            </a:p>
            <a:p>
              <a:pPr algn="ctr" marL="451227" indent="-225613" lvl="1">
                <a:lnSpc>
                  <a:spcPts val="2507"/>
                </a:lnSpc>
                <a:buFont typeface="Arial"/>
                <a:buChar char="•"/>
              </a:pPr>
              <a:r>
                <a:rPr lang="en-US" b="true" sz="2089" spc="-16">
                  <a:solidFill>
                    <a:srgbClr val="000000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Gradient Boosting slightly outperforms Random Forest</a:t>
              </a:r>
            </a:p>
            <a:p>
              <a:pPr algn="ctr">
                <a:lnSpc>
                  <a:spcPts val="250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031059" y="6540585"/>
            <a:ext cx="4904292" cy="383938"/>
            <a:chOff x="0" y="0"/>
            <a:chExt cx="1303865" cy="1020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03865" cy="102074"/>
            </a:xfrm>
            <a:custGeom>
              <a:avLst/>
              <a:gdLst/>
              <a:ahLst/>
              <a:cxnLst/>
              <a:rect r="r" b="b" t="t" l="l"/>
              <a:pathLst>
                <a:path h="102074" w="1303865">
                  <a:moveTo>
                    <a:pt x="0" y="0"/>
                  </a:moveTo>
                  <a:lnTo>
                    <a:pt x="1303865" y="0"/>
                  </a:lnTo>
                  <a:lnTo>
                    <a:pt x="1303865" y="102074"/>
                  </a:lnTo>
                  <a:lnTo>
                    <a:pt x="0" y="10207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03865" cy="149699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336796" y="6540585"/>
            <a:ext cx="4365499" cy="35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b="true" sz="2323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Engineering Interpretation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12807" y="7261346"/>
            <a:ext cx="8719900" cy="2415413"/>
            <a:chOff x="0" y="0"/>
            <a:chExt cx="2318290" cy="6421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18290" cy="642166"/>
            </a:xfrm>
            <a:custGeom>
              <a:avLst/>
              <a:gdLst/>
              <a:ahLst/>
              <a:cxnLst/>
              <a:rect r="r" b="b" t="t" l="l"/>
              <a:pathLst>
                <a:path h="642166" w="2318290">
                  <a:moveTo>
                    <a:pt x="0" y="0"/>
                  </a:moveTo>
                  <a:lnTo>
                    <a:pt x="2318290" y="0"/>
                  </a:lnTo>
                  <a:lnTo>
                    <a:pt x="2318290" y="642166"/>
                  </a:lnTo>
                  <a:lnTo>
                    <a:pt x="0" y="642166"/>
                  </a:lnTo>
                  <a:close/>
                </a:path>
              </a:pathLst>
            </a:custGeom>
            <a:solidFill>
              <a:srgbClr val="74DFF6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318290" cy="689791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400356" y="7526077"/>
            <a:ext cx="8544801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b="true" sz="2089" spc="-16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Peaks in graph → high martensite / rapid cooling</a:t>
            </a:r>
          </a:p>
          <a:p>
            <a:pPr algn="ctr">
              <a:lnSpc>
                <a:spcPts val="2507"/>
              </a:lnSpc>
            </a:pPr>
          </a:p>
          <a:p>
            <a:pPr algn="ctr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b="true" sz="2089" spc="-16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Valleys → ferrite-pearlite structures / slower cooling</a:t>
            </a:r>
          </a:p>
          <a:p>
            <a:pPr algn="ctr">
              <a:lnSpc>
                <a:spcPts val="2507"/>
              </a:lnSpc>
            </a:pPr>
          </a:p>
          <a:p>
            <a:pPr algn="ctr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b="true" sz="2089" spc="-16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Smooth transitions → tempered or mixed microstructures</a:t>
            </a:r>
          </a:p>
          <a:p>
            <a:pPr algn="ctr">
              <a:lnSpc>
                <a:spcPts val="250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5229" y="9258300"/>
            <a:ext cx="1787277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9"/>
              </a:lnSpc>
              <a:spcBef>
                <a:spcPct val="0"/>
              </a:spcBef>
            </a:pPr>
            <a:r>
              <a:rPr lang="en-US" b="true" sz="2541" spc="-2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This</a:t>
            </a:r>
            <a:r>
              <a:rPr lang="en-US" b="true" sz="2541" spc="-2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approach can be extended to alloy design, heat treatment optimization, and smart manufacturing (Industry 4.0)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785766" y="175065"/>
            <a:ext cx="5787492" cy="537149"/>
            <a:chOff x="0" y="0"/>
            <a:chExt cx="1538674" cy="1428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38674" cy="142808"/>
            </a:xfrm>
            <a:custGeom>
              <a:avLst/>
              <a:gdLst/>
              <a:ahLst/>
              <a:cxnLst/>
              <a:rect r="r" b="b" t="t" l="l"/>
              <a:pathLst>
                <a:path h="142808" w="1538674">
                  <a:moveTo>
                    <a:pt x="0" y="0"/>
                  </a:moveTo>
                  <a:lnTo>
                    <a:pt x="1538674" y="0"/>
                  </a:lnTo>
                  <a:lnTo>
                    <a:pt x="1538674" y="142808"/>
                  </a:lnTo>
                  <a:lnTo>
                    <a:pt x="0" y="14280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38674" cy="190433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38635" y="267764"/>
            <a:ext cx="5481755" cy="35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b="true" sz="2323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Process–Structure–Property Link</a:t>
            </a:r>
            <a:r>
              <a:rPr lang="en-US" b="true" sz="2323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6023" y="923925"/>
            <a:ext cx="7537981" cy="1864080"/>
            <a:chOff x="0" y="0"/>
            <a:chExt cx="2004062" cy="4955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04062" cy="495588"/>
            </a:xfrm>
            <a:custGeom>
              <a:avLst/>
              <a:gdLst/>
              <a:ahLst/>
              <a:cxnLst/>
              <a:rect r="r" b="b" t="t" l="l"/>
              <a:pathLst>
                <a:path h="495588" w="2004062">
                  <a:moveTo>
                    <a:pt x="0" y="0"/>
                  </a:moveTo>
                  <a:lnTo>
                    <a:pt x="2004062" y="0"/>
                  </a:lnTo>
                  <a:lnTo>
                    <a:pt x="2004062" y="495588"/>
                  </a:lnTo>
                  <a:lnTo>
                    <a:pt x="0" y="495588"/>
                  </a:lnTo>
                  <a:close/>
                </a:path>
              </a:pathLst>
            </a:custGeom>
            <a:solidFill>
              <a:srgbClr val="74DFF6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004062" cy="543213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43002" y="1216380"/>
            <a:ext cx="7122121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Cooling Rate ↑ → Martensite ↑ → Hardness ↑</a:t>
            </a:r>
          </a:p>
          <a:p>
            <a:pPr algn="ctr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Grain Size ↓ → Strength &amp; UTS ↑</a:t>
            </a:r>
          </a:p>
          <a:p>
            <a:pPr algn="ctr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Ferrite/Pearlite ↑ → Ductility ↑, Hardness ↓</a:t>
            </a:r>
          </a:p>
          <a:p>
            <a:pPr algn="ctr">
              <a:lnSpc>
                <a:spcPts val="2507"/>
              </a:lnSpc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Our</a:t>
            </a: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ML results validate core metallurgy principles</a:t>
            </a:r>
          </a:p>
          <a:p>
            <a:pPr algn="ctr">
              <a:lnSpc>
                <a:spcPts val="2507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1181551" y="175065"/>
            <a:ext cx="5787492" cy="537149"/>
            <a:chOff x="0" y="0"/>
            <a:chExt cx="1538674" cy="1428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38674" cy="142808"/>
            </a:xfrm>
            <a:custGeom>
              <a:avLst/>
              <a:gdLst/>
              <a:ahLst/>
              <a:cxnLst/>
              <a:rect r="r" b="b" t="t" l="l"/>
              <a:pathLst>
                <a:path h="142808" w="1538674">
                  <a:moveTo>
                    <a:pt x="0" y="0"/>
                  </a:moveTo>
                  <a:lnTo>
                    <a:pt x="1538674" y="0"/>
                  </a:lnTo>
                  <a:lnTo>
                    <a:pt x="1538674" y="142808"/>
                  </a:lnTo>
                  <a:lnTo>
                    <a:pt x="0" y="14280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538674" cy="190433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334419" y="267764"/>
            <a:ext cx="5481755" cy="35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b="true" sz="2323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Key Engineering Insight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141807" y="923925"/>
            <a:ext cx="7537981" cy="1864080"/>
            <a:chOff x="0" y="0"/>
            <a:chExt cx="2004062" cy="4955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04062" cy="495588"/>
            </a:xfrm>
            <a:custGeom>
              <a:avLst/>
              <a:gdLst/>
              <a:ahLst/>
              <a:cxnLst/>
              <a:rect r="r" b="b" t="t" l="l"/>
              <a:pathLst>
                <a:path h="495588" w="2004062">
                  <a:moveTo>
                    <a:pt x="0" y="0"/>
                  </a:moveTo>
                  <a:lnTo>
                    <a:pt x="2004062" y="0"/>
                  </a:lnTo>
                  <a:lnTo>
                    <a:pt x="2004062" y="495588"/>
                  </a:lnTo>
                  <a:lnTo>
                    <a:pt x="0" y="495588"/>
                  </a:lnTo>
                  <a:close/>
                </a:path>
              </a:pathLst>
            </a:custGeom>
            <a:solidFill>
              <a:srgbClr val="74DFF6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2004062" cy="543213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349737" y="1028700"/>
            <a:ext cx="7122121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Hardness can be predicted before actual testing</a:t>
            </a:r>
          </a:p>
          <a:p>
            <a:pPr algn="just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Enables:</a:t>
            </a:r>
          </a:p>
          <a:p>
            <a:pPr algn="just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Faster material design</a:t>
            </a:r>
          </a:p>
          <a:p>
            <a:pPr algn="just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Reduced experimental cost</a:t>
            </a:r>
          </a:p>
          <a:p>
            <a:pPr algn="just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Optimization of heat treatment parameters</a:t>
            </a:r>
          </a:p>
          <a:p>
            <a:pPr algn="ctr">
              <a:lnSpc>
                <a:spcPts val="2507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6293603" y="3324225"/>
            <a:ext cx="5787492" cy="537149"/>
            <a:chOff x="0" y="0"/>
            <a:chExt cx="1538674" cy="1428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38674" cy="142808"/>
            </a:xfrm>
            <a:custGeom>
              <a:avLst/>
              <a:gdLst/>
              <a:ahLst/>
              <a:cxnLst/>
              <a:rect r="r" b="b" t="t" l="l"/>
              <a:pathLst>
                <a:path h="142808" w="1538674">
                  <a:moveTo>
                    <a:pt x="0" y="0"/>
                  </a:moveTo>
                  <a:lnTo>
                    <a:pt x="1538674" y="0"/>
                  </a:lnTo>
                  <a:lnTo>
                    <a:pt x="1538674" y="142808"/>
                  </a:lnTo>
                  <a:lnTo>
                    <a:pt x="0" y="14280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538674" cy="190433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446471" y="3416924"/>
            <a:ext cx="5481755" cy="35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b="true" sz="2323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Supervised Learning Insight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382913" y="4073085"/>
            <a:ext cx="9692384" cy="1864080"/>
            <a:chOff x="0" y="0"/>
            <a:chExt cx="2576836" cy="4955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76836" cy="495588"/>
            </a:xfrm>
            <a:custGeom>
              <a:avLst/>
              <a:gdLst/>
              <a:ahLst/>
              <a:cxnLst/>
              <a:rect r="r" b="b" t="t" l="l"/>
              <a:pathLst>
                <a:path h="495588" w="2576836">
                  <a:moveTo>
                    <a:pt x="0" y="0"/>
                  </a:moveTo>
                  <a:lnTo>
                    <a:pt x="2576836" y="0"/>
                  </a:lnTo>
                  <a:lnTo>
                    <a:pt x="2576836" y="495588"/>
                  </a:lnTo>
                  <a:lnTo>
                    <a:pt x="0" y="495588"/>
                  </a:lnTo>
                  <a:close/>
                </a:path>
              </a:pathLst>
            </a:custGeom>
            <a:solidFill>
              <a:srgbClr val="74DFF6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576836" cy="543213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489178" y="4270949"/>
            <a:ext cx="9396342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Both models show:</a:t>
            </a:r>
          </a:p>
          <a:p>
            <a:pPr algn="ctr" marL="902453" indent="-300818" lvl="2">
              <a:lnSpc>
                <a:spcPts val="2507"/>
              </a:lnSpc>
              <a:buFont typeface="Arial"/>
              <a:buChar char="⚬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High R² (0.94–0.96) → Strong predictive power</a:t>
            </a:r>
          </a:p>
          <a:p>
            <a:pPr algn="ctr" marL="902453" indent="-300818" lvl="2">
              <a:lnSpc>
                <a:spcPts val="2507"/>
              </a:lnSpc>
              <a:buFont typeface="Arial"/>
              <a:buChar char="⚬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Low MAE → Accurate predictions</a:t>
            </a:r>
          </a:p>
          <a:p>
            <a:pPr algn="ctr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Gradient Boosting slightly better → captures fine nonlinear trends</a:t>
            </a:r>
          </a:p>
          <a:p>
            <a:pPr algn="ctr">
              <a:lnSpc>
                <a:spcPts val="2507"/>
              </a:lnSpc>
              <a:spcBef>
                <a:spcPct val="0"/>
              </a:spcBef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6457869" y="6251490"/>
            <a:ext cx="5787492" cy="537149"/>
            <a:chOff x="0" y="0"/>
            <a:chExt cx="1538674" cy="1428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38674" cy="142808"/>
            </a:xfrm>
            <a:custGeom>
              <a:avLst/>
              <a:gdLst/>
              <a:ahLst/>
              <a:cxnLst/>
              <a:rect r="r" b="b" t="t" l="l"/>
              <a:pathLst>
                <a:path h="142808" w="1538674">
                  <a:moveTo>
                    <a:pt x="0" y="0"/>
                  </a:moveTo>
                  <a:lnTo>
                    <a:pt x="1538674" y="0"/>
                  </a:lnTo>
                  <a:lnTo>
                    <a:pt x="1538674" y="142808"/>
                  </a:lnTo>
                  <a:lnTo>
                    <a:pt x="0" y="142808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538674" cy="190433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6610737" y="6344189"/>
            <a:ext cx="5481755" cy="351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b="true" sz="2323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Model Reliability Insight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382913" y="6998189"/>
            <a:ext cx="9692384" cy="1140839"/>
            <a:chOff x="0" y="0"/>
            <a:chExt cx="2576836" cy="30330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76836" cy="303306"/>
            </a:xfrm>
            <a:custGeom>
              <a:avLst/>
              <a:gdLst/>
              <a:ahLst/>
              <a:cxnLst/>
              <a:rect r="r" b="b" t="t" l="l"/>
              <a:pathLst>
                <a:path h="303306" w="2576836">
                  <a:moveTo>
                    <a:pt x="0" y="0"/>
                  </a:moveTo>
                  <a:lnTo>
                    <a:pt x="2576836" y="0"/>
                  </a:lnTo>
                  <a:lnTo>
                    <a:pt x="2576836" y="303306"/>
                  </a:lnTo>
                  <a:lnTo>
                    <a:pt x="0" y="303306"/>
                  </a:lnTo>
                  <a:close/>
                </a:path>
              </a:pathLst>
            </a:custGeom>
            <a:solidFill>
              <a:srgbClr val="74DFF6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576836" cy="350931"/>
            </a:xfrm>
            <a:prstGeom prst="rect">
              <a:avLst/>
            </a:prstGeom>
          </p:spPr>
          <p:txBody>
            <a:bodyPr anchor="ctr" rtlCol="false" tIns="50325" lIns="50325" bIns="50325" rIns="50325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489178" y="7196053"/>
            <a:ext cx="939634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Train ≈ Test score → No major overfitting</a:t>
            </a:r>
          </a:p>
          <a:p>
            <a:pPr algn="ctr" marL="451227" indent="-225613" lvl="1">
              <a:lnSpc>
                <a:spcPts val="2507"/>
              </a:lnSpc>
              <a:buFont typeface="Arial"/>
              <a:buChar char="•"/>
            </a:pPr>
            <a:r>
              <a:rPr lang="en-US" sz="2089" spc="-16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Models generalize well → usable for real predictions</a:t>
            </a:r>
          </a:p>
          <a:p>
            <a:pPr algn="ctr">
              <a:lnSpc>
                <a:spcPts val="2507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9713" y="660702"/>
            <a:ext cx="16888574" cy="237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</a:p>
          <a:p>
            <a:pPr algn="l" marL="578850" indent="-289425" lvl="1">
              <a:lnSpc>
                <a:spcPts val="3056"/>
              </a:lnSpc>
              <a:buFont typeface="Arial"/>
              <a:buChar char="•"/>
            </a:pPr>
            <a:r>
              <a:rPr lang="en-US" b="true" sz="2681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Analyzed a metallurgical dataset linking composition, heat treatment, microstructure, and mechanical properties</a:t>
            </a:r>
          </a:p>
          <a:p>
            <a:pPr algn="l" marL="578850" indent="-289425" lvl="1">
              <a:lnSpc>
                <a:spcPts val="3056"/>
              </a:lnSpc>
              <a:buFont typeface="Arial"/>
              <a:buChar char="•"/>
            </a:pPr>
            <a:r>
              <a:rPr lang="en-US" b="true" sz="2681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Performed EDA to understand distributions, correlations, and key material behavior</a:t>
            </a:r>
          </a:p>
          <a:p>
            <a:pPr algn="l" marL="578850" indent="-289425" lvl="1">
              <a:lnSpc>
                <a:spcPts val="3056"/>
              </a:lnSpc>
              <a:buFont typeface="Arial"/>
              <a:buChar char="•"/>
            </a:pPr>
            <a:r>
              <a:rPr lang="en-US" b="true" sz="2681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Applied K-Means clustering with PCA to identify distinct material groups based on properties</a:t>
            </a:r>
          </a:p>
          <a:p>
            <a:pPr algn="l" marL="578850" indent="-289425" lvl="1">
              <a:lnSpc>
                <a:spcPts val="3056"/>
              </a:lnSpc>
              <a:buFont typeface="Arial"/>
              <a:buChar char="•"/>
            </a:pPr>
            <a:r>
              <a:rPr lang="en-US" b="true" sz="2681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Built supervised models (Random Forest &amp; Gradient Boosting) to predict hardness accurately</a:t>
            </a:r>
          </a:p>
          <a:p>
            <a:pPr algn="l">
              <a:lnSpc>
                <a:spcPts val="405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310694" y="0"/>
            <a:ext cx="17666612" cy="659987"/>
            <a:chOff x="0" y="0"/>
            <a:chExt cx="5822346" cy="2174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22346" cy="217424"/>
            </a:xfrm>
            <a:custGeom>
              <a:avLst/>
              <a:gdLst/>
              <a:ahLst/>
              <a:cxnLst/>
              <a:rect r="r" b="b" t="t" l="l"/>
              <a:pathLst>
                <a:path h="217424" w="5822346">
                  <a:moveTo>
                    <a:pt x="5822346" y="8764"/>
                  </a:moveTo>
                  <a:lnTo>
                    <a:pt x="5822346" y="208660"/>
                  </a:lnTo>
                  <a:cubicBezTo>
                    <a:pt x="5822346" y="213500"/>
                    <a:pt x="5818422" y="217424"/>
                    <a:pt x="5813581" y="217424"/>
                  </a:cubicBezTo>
                  <a:lnTo>
                    <a:pt x="8764" y="217424"/>
                  </a:lnTo>
                  <a:cubicBezTo>
                    <a:pt x="3924" y="217424"/>
                    <a:pt x="0" y="213500"/>
                    <a:pt x="0" y="208660"/>
                  </a:cubicBezTo>
                  <a:lnTo>
                    <a:pt x="0" y="8764"/>
                  </a:lnTo>
                  <a:cubicBezTo>
                    <a:pt x="0" y="3924"/>
                    <a:pt x="3924" y="0"/>
                    <a:pt x="8764" y="0"/>
                  </a:cubicBezTo>
                  <a:lnTo>
                    <a:pt x="5813581" y="0"/>
                  </a:lnTo>
                  <a:cubicBezTo>
                    <a:pt x="5815906" y="0"/>
                    <a:pt x="5818135" y="923"/>
                    <a:pt x="5819779" y="2567"/>
                  </a:cubicBezTo>
                  <a:cubicBezTo>
                    <a:pt x="5821423" y="4211"/>
                    <a:pt x="5822346" y="6440"/>
                    <a:pt x="5822346" y="8764"/>
                  </a:cubicBezTo>
                  <a:close/>
                </a:path>
              </a:pathLst>
            </a:custGeom>
            <a:solidFill>
              <a:srgbClr val="00357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5822346" cy="217424"/>
            </a:xfrm>
            <a:prstGeom prst="rect">
              <a:avLst/>
            </a:prstGeom>
          </p:spPr>
          <p:txBody>
            <a:bodyPr anchor="ctr" rtlCol="false" tIns="55954" lIns="55954" bIns="55954" rIns="55954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629716" y="47673"/>
            <a:ext cx="2545556" cy="603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87"/>
              </a:lnSpc>
              <a:spcBef>
                <a:spcPct val="0"/>
              </a:spcBef>
            </a:pPr>
            <a:r>
              <a:rPr lang="en-US" b="true" sz="4199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Summary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038723" y="3305645"/>
            <a:ext cx="8519152" cy="669331"/>
            <a:chOff x="0" y="0"/>
            <a:chExt cx="11358869" cy="89244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1347969" y="0"/>
              <a:ext cx="8662931" cy="892441"/>
              <a:chOff x="0" y="0"/>
              <a:chExt cx="1711196" cy="17628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11196" cy="176285"/>
              </a:xfrm>
              <a:custGeom>
                <a:avLst/>
                <a:gdLst/>
                <a:ahLst/>
                <a:cxnLst/>
                <a:rect r="r" b="b" t="t" l="l"/>
                <a:pathLst>
                  <a:path h="176285" w="1711196">
                    <a:moveTo>
                      <a:pt x="0" y="0"/>
                    </a:moveTo>
                    <a:lnTo>
                      <a:pt x="1711196" y="0"/>
                    </a:lnTo>
                    <a:lnTo>
                      <a:pt x="1711196" y="176285"/>
                    </a:lnTo>
                    <a:lnTo>
                      <a:pt x="0" y="17628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dash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1711196" cy="22391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54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0" y="149544"/>
              <a:ext cx="11358869" cy="602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0"/>
                </a:lnSpc>
                <a:spcBef>
                  <a:spcPct val="0"/>
                </a:spcBef>
              </a:pPr>
              <a:r>
                <a:rPr lang="en-US" b="true" sz="3051">
                  <a:solidFill>
                    <a:srgbClr val="002068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KEY INSIGHTS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10694" y="4206369"/>
            <a:ext cx="17469712" cy="1962181"/>
            <a:chOff x="0" y="0"/>
            <a:chExt cx="4601076" cy="5167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01076" cy="516788"/>
            </a:xfrm>
            <a:custGeom>
              <a:avLst/>
              <a:gdLst/>
              <a:ahLst/>
              <a:cxnLst/>
              <a:rect r="r" b="b" t="t" l="l"/>
              <a:pathLst>
                <a:path h="516788" w="4601076">
                  <a:moveTo>
                    <a:pt x="0" y="0"/>
                  </a:moveTo>
                  <a:lnTo>
                    <a:pt x="4601076" y="0"/>
                  </a:lnTo>
                  <a:lnTo>
                    <a:pt x="4601076" y="516788"/>
                  </a:lnTo>
                  <a:lnTo>
                    <a:pt x="0" y="516788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601076" cy="5644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31557" y="3955926"/>
            <a:ext cx="16285135" cy="241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9"/>
              </a:lnSpc>
            </a:pPr>
          </a:p>
          <a:p>
            <a:pPr algn="ctr" marL="600212" indent="-300106" lvl="1">
              <a:lnSpc>
                <a:spcPts val="31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Micr</a:t>
            </a:r>
            <a:r>
              <a:rPr lang="en-US" b="true" sz="27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ostructure (especially martensite) strongly controls hardness and strength</a:t>
            </a:r>
          </a:p>
          <a:p>
            <a:pPr algn="ctr" marL="600212" indent="-300106" lvl="1">
              <a:lnSpc>
                <a:spcPts val="31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Grain size inversely affects strength (Hall–Petch relationship observed)</a:t>
            </a:r>
          </a:p>
          <a:p>
            <a:pPr algn="ctr" marL="600212" indent="-300106" lvl="1">
              <a:lnSpc>
                <a:spcPts val="31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Cooling rate influences phase formation, impacting final properties</a:t>
            </a:r>
          </a:p>
          <a:p>
            <a:pPr algn="ctr" marL="600212" indent="-300106" lvl="1">
              <a:lnSpc>
                <a:spcPts val="316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8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Strong correlation between Hardness, UTS, and Yield Strength</a:t>
            </a:r>
          </a:p>
          <a:p>
            <a:pPr algn="ctr">
              <a:lnSpc>
                <a:spcPts val="3169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645085" y="6444085"/>
            <a:ext cx="5102143" cy="669331"/>
            <a:chOff x="0" y="0"/>
            <a:chExt cx="1343774" cy="17628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3774" cy="176285"/>
            </a:xfrm>
            <a:custGeom>
              <a:avLst/>
              <a:gdLst/>
              <a:ahLst/>
              <a:cxnLst/>
              <a:rect r="r" b="b" t="t" l="l"/>
              <a:pathLst>
                <a:path h="176285" w="1343774">
                  <a:moveTo>
                    <a:pt x="0" y="0"/>
                  </a:moveTo>
                  <a:lnTo>
                    <a:pt x="1343774" y="0"/>
                  </a:lnTo>
                  <a:lnTo>
                    <a:pt x="1343774" y="176285"/>
                  </a:lnTo>
                  <a:lnTo>
                    <a:pt x="0" y="1762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3774" cy="223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09379" y="6444085"/>
            <a:ext cx="5525642" cy="669331"/>
            <a:chOff x="0" y="0"/>
            <a:chExt cx="1455313" cy="1762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55313" cy="176285"/>
            </a:xfrm>
            <a:custGeom>
              <a:avLst/>
              <a:gdLst/>
              <a:ahLst/>
              <a:cxnLst/>
              <a:rect r="r" b="b" t="t" l="l"/>
              <a:pathLst>
                <a:path h="176285" w="1455313">
                  <a:moveTo>
                    <a:pt x="0" y="0"/>
                  </a:moveTo>
                  <a:lnTo>
                    <a:pt x="1455313" y="0"/>
                  </a:lnTo>
                  <a:lnTo>
                    <a:pt x="1455313" y="176285"/>
                  </a:lnTo>
                  <a:lnTo>
                    <a:pt x="0" y="1762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55313" cy="223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580649" y="6558624"/>
            <a:ext cx="4583101" cy="449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b="true" sz="3051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FINAL CONCLUSION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51191" y="7272760"/>
            <a:ext cx="7829215" cy="2754794"/>
            <a:chOff x="0" y="0"/>
            <a:chExt cx="2062015" cy="7255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62015" cy="725542"/>
            </a:xfrm>
            <a:custGeom>
              <a:avLst/>
              <a:gdLst/>
              <a:ahLst/>
              <a:cxnLst/>
              <a:rect r="r" b="b" t="t" l="l"/>
              <a:pathLst>
                <a:path h="725542" w="2062015">
                  <a:moveTo>
                    <a:pt x="0" y="0"/>
                  </a:moveTo>
                  <a:lnTo>
                    <a:pt x="2062015" y="0"/>
                  </a:lnTo>
                  <a:lnTo>
                    <a:pt x="2062015" y="725542"/>
                  </a:lnTo>
                  <a:lnTo>
                    <a:pt x="0" y="725542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062015" cy="773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951191" y="7132466"/>
            <a:ext cx="7953931" cy="2936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8"/>
              </a:lnSpc>
              <a:spcBef>
                <a:spcPct val="0"/>
              </a:spcBef>
            </a:pPr>
          </a:p>
          <a:p>
            <a:pPr algn="l" marL="549020" indent="-274510" lvl="1">
              <a:lnSpc>
                <a:spcPts val="28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2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Successfully demonstrated data-driven understanding of metallurgy</a:t>
            </a:r>
          </a:p>
          <a:p>
            <a:pPr algn="l" marL="549020" indent="-274510" lvl="1">
              <a:lnSpc>
                <a:spcPts val="28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2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ML models can predict material properties from process parameters</a:t>
            </a:r>
          </a:p>
          <a:p>
            <a:pPr algn="l" marL="549020" indent="-274510" lvl="1">
              <a:lnSpc>
                <a:spcPts val="28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2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Approach can be used for material design and optimization</a:t>
            </a:r>
          </a:p>
          <a:p>
            <a:pPr algn="ctr">
              <a:lnSpc>
                <a:spcPts val="2898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506019" y="6558624"/>
            <a:ext cx="5380276" cy="449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70"/>
              </a:lnSpc>
              <a:spcBef>
                <a:spcPct val="0"/>
              </a:spcBef>
            </a:pPr>
            <a:r>
              <a:rPr lang="en-US" b="true" sz="3051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MODEL PERFORMANCE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10694" y="7294391"/>
            <a:ext cx="7829215" cy="2754794"/>
            <a:chOff x="0" y="0"/>
            <a:chExt cx="2062015" cy="72554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62015" cy="725542"/>
            </a:xfrm>
            <a:custGeom>
              <a:avLst/>
              <a:gdLst/>
              <a:ahLst/>
              <a:cxnLst/>
              <a:rect r="r" b="b" t="t" l="l"/>
              <a:pathLst>
                <a:path h="725542" w="2062015">
                  <a:moveTo>
                    <a:pt x="0" y="0"/>
                  </a:moveTo>
                  <a:lnTo>
                    <a:pt x="2062015" y="0"/>
                  </a:lnTo>
                  <a:lnTo>
                    <a:pt x="2062015" y="725542"/>
                  </a:lnTo>
                  <a:lnTo>
                    <a:pt x="0" y="725542"/>
                  </a:lnTo>
                  <a:close/>
                </a:path>
              </a:pathLst>
            </a:custGeom>
            <a:solidFill>
              <a:srgbClr val="74DFF6"/>
            </a:solidFill>
            <a:ln w="28575" cap="sq">
              <a:solidFill>
                <a:srgbClr val="000000"/>
              </a:solidFill>
              <a:prstDash val="sysDot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62015" cy="773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4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09763" y="7199141"/>
            <a:ext cx="7901571" cy="293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  <a:spcBef>
                <a:spcPct val="0"/>
              </a:spcBef>
            </a:pPr>
          </a:p>
          <a:p>
            <a:pPr algn="l" marL="548387" indent="-274193" lvl="1">
              <a:lnSpc>
                <a:spcPts val="289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Both models achieved high accuracy (R² ≈ 0.95–0.97)</a:t>
            </a:r>
          </a:p>
          <a:p>
            <a:pPr algn="l" marL="548387" indent="-274193" lvl="1">
              <a:lnSpc>
                <a:spcPts val="289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Gradient Boosting performed slightly better than Random Forest</a:t>
            </a:r>
          </a:p>
          <a:p>
            <a:pPr algn="l" marL="548387" indent="-274193" lvl="1">
              <a:lnSpc>
                <a:spcPts val="289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4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Predictions closely match actual values → reliable model</a:t>
            </a:r>
          </a:p>
          <a:p>
            <a:pPr algn="ctr">
              <a:lnSpc>
                <a:spcPts val="329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19996" y="3201975"/>
            <a:ext cx="13932868" cy="209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95"/>
              </a:lnSpc>
            </a:pPr>
            <a:r>
              <a:rPr lang="en-US" b="true" sz="14294">
                <a:solidFill>
                  <a:srgbClr val="002068"/>
                </a:solidFill>
                <a:latin typeface="Gotham Bold"/>
                <a:ea typeface="Gotham Bold"/>
                <a:cs typeface="Gotham Bold"/>
                <a:sym typeface="Gotham Bold"/>
              </a:rPr>
              <a:t>THANK  YOU 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60240">
            <a:off x="5354725" y="6474412"/>
            <a:ext cx="7578550" cy="1974580"/>
          </a:xfrm>
          <a:custGeom>
            <a:avLst/>
            <a:gdLst/>
            <a:ahLst/>
            <a:cxnLst/>
            <a:rect r="r" b="b" t="t" l="l"/>
            <a:pathLst>
              <a:path h="1974580" w="7578550">
                <a:moveTo>
                  <a:pt x="0" y="0"/>
                </a:moveTo>
                <a:lnTo>
                  <a:pt x="7578550" y="0"/>
                </a:lnTo>
                <a:lnTo>
                  <a:pt x="7578550" y="1974580"/>
                </a:lnTo>
                <a:lnTo>
                  <a:pt x="0" y="1974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DAHFgIIfrc8</dc:identifier>
  <dcterms:modified xsi:type="dcterms:W3CDTF">2011-08-01T06:04:30Z</dcterms:modified>
  <cp:revision>1</cp:revision>
  <dc:title>Data-Driven Analysis of Metallurgical Properties using Machine Learning</dc:title>
</cp:coreProperties>
</file>